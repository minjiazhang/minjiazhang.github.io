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53"/>
  </p:notesMasterIdLst>
  <p:sldIdLst>
    <p:sldId id="256" r:id="rId5"/>
    <p:sldId id="2147469056" r:id="rId6"/>
    <p:sldId id="2147469067" r:id="rId7"/>
    <p:sldId id="2147469093" r:id="rId8"/>
    <p:sldId id="2147469019" r:id="rId9"/>
    <p:sldId id="2147469017" r:id="rId10"/>
    <p:sldId id="2147469018" r:id="rId11"/>
    <p:sldId id="2147469020" r:id="rId12"/>
    <p:sldId id="2147469079" r:id="rId13"/>
    <p:sldId id="2147469021" r:id="rId14"/>
    <p:sldId id="2147469080" r:id="rId15"/>
    <p:sldId id="2147469087" r:id="rId16"/>
    <p:sldId id="2147469081" r:id="rId17"/>
    <p:sldId id="2147469022" r:id="rId18"/>
    <p:sldId id="2147469082" r:id="rId19"/>
    <p:sldId id="2147469083" r:id="rId20"/>
    <p:sldId id="2147469084" r:id="rId21"/>
    <p:sldId id="2147469086" r:id="rId22"/>
    <p:sldId id="2147469113" r:id="rId23"/>
    <p:sldId id="2147469090" r:id="rId24"/>
    <p:sldId id="2147468965" r:id="rId25"/>
    <p:sldId id="2147469069" r:id="rId26"/>
    <p:sldId id="2147469089" r:id="rId27"/>
    <p:sldId id="2147469091" r:id="rId28"/>
    <p:sldId id="2147469092" r:id="rId29"/>
    <p:sldId id="2147469088" r:id="rId30"/>
    <p:sldId id="2147469070" r:id="rId31"/>
    <p:sldId id="2147469114" r:id="rId32"/>
    <p:sldId id="2147469115" r:id="rId33"/>
    <p:sldId id="2147469116" r:id="rId34"/>
    <p:sldId id="2147469095" r:id="rId35"/>
    <p:sldId id="2147469097" r:id="rId36"/>
    <p:sldId id="2147469096" r:id="rId37"/>
    <p:sldId id="2147469098" r:id="rId38"/>
    <p:sldId id="2147469099" r:id="rId39"/>
    <p:sldId id="2147469100" r:id="rId40"/>
    <p:sldId id="2147469101" r:id="rId41"/>
    <p:sldId id="2147469102" r:id="rId42"/>
    <p:sldId id="2147469103" r:id="rId43"/>
    <p:sldId id="2147469104" r:id="rId44"/>
    <p:sldId id="2147469105" r:id="rId45"/>
    <p:sldId id="2147469107" r:id="rId46"/>
    <p:sldId id="2147469108" r:id="rId47"/>
    <p:sldId id="2147469109" r:id="rId48"/>
    <p:sldId id="2147469110" r:id="rId49"/>
    <p:sldId id="2147469111" r:id="rId50"/>
    <p:sldId id="2147469112" r:id="rId51"/>
    <p:sldId id="2147468951" r:id="rId5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742318-B5E0-52D5-E4CC-61BDC7B706AA}" name="Samyam Rajbhandari" initials="SR" userId="S::samyamr@microsoft.com::bce23198-1685-4d1d-bc69-52a434c2532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BE7B"/>
    <a:srgbClr val="FFFFFF"/>
    <a:srgbClr val="E4EDF7"/>
    <a:srgbClr val="D4E2F2"/>
    <a:srgbClr val="000000"/>
    <a:srgbClr val="FFF1CC"/>
    <a:srgbClr val="DEDEDE"/>
    <a:srgbClr val="E3EE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9" autoAdjust="0"/>
    <p:restoredTop sz="81961" autoAdjust="0"/>
  </p:normalViewPr>
  <p:slideViewPr>
    <p:cSldViewPr snapToGrid="0">
      <p:cViewPr varScale="1">
        <p:scale>
          <a:sx n="95" d="100"/>
          <a:sy n="95" d="100"/>
        </p:scale>
        <p:origin x="50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jia Zhang" userId="59a6e498068d2940" providerId="LiveId" clId="{3B0E2E81-3A24-4401-9F7D-784152501B12}"/>
    <pc:docChg chg="modSld">
      <pc:chgData name="Minjia Zhang" userId="59a6e498068d2940" providerId="LiveId" clId="{3B0E2E81-3A24-4401-9F7D-784152501B12}" dt="2026-04-14T06:06:14.792" v="8" actId="20577"/>
      <pc:docMkLst>
        <pc:docMk/>
      </pc:docMkLst>
      <pc:sldChg chg="modSp mod">
        <pc:chgData name="Minjia Zhang" userId="59a6e498068d2940" providerId="LiveId" clId="{3B0E2E81-3A24-4401-9F7D-784152501B12}" dt="2026-04-14T05:57:25.806" v="1" actId="20577"/>
        <pc:sldMkLst>
          <pc:docMk/>
          <pc:sldMk cId="0" sldId="256"/>
        </pc:sldMkLst>
        <pc:spChg chg="mod">
          <ac:chgData name="Minjia Zhang" userId="59a6e498068d2940" providerId="LiveId" clId="{3B0E2E81-3A24-4401-9F7D-784152501B12}" dt="2026-04-14T05:57:25.806" v="1" actId="20577"/>
          <ac:spMkLst>
            <pc:docMk/>
            <pc:sldMk cId="0" sldId="256"/>
            <ac:spMk id="57" creationId="{00000000-0000-0000-0000-000000000000}"/>
          </ac:spMkLst>
        </pc:spChg>
      </pc:sldChg>
      <pc:sldChg chg="modSp mod">
        <pc:chgData name="Minjia Zhang" userId="59a6e498068d2940" providerId="LiveId" clId="{3B0E2E81-3A24-4401-9F7D-784152501B12}" dt="2026-04-14T06:06:14.792" v="8" actId="20577"/>
        <pc:sldMkLst>
          <pc:docMk/>
          <pc:sldMk cId="3124633890" sldId="2147469070"/>
        </pc:sldMkLst>
        <pc:spChg chg="mod">
          <ac:chgData name="Minjia Zhang" userId="59a6e498068d2940" providerId="LiveId" clId="{3B0E2E81-3A24-4401-9F7D-784152501B12}" dt="2026-04-14T06:06:14.792" v="8" actId="20577"/>
          <ac:spMkLst>
            <pc:docMk/>
            <pc:sldMk cId="3124633890" sldId="2147469070"/>
            <ac:spMk id="6" creationId="{6B8357BC-54F1-6043-D17C-C95E0C0112AD}"/>
          </ac:spMkLst>
        </pc:spChg>
      </pc:sldChg>
      <pc:sldChg chg="modNotesTx">
        <pc:chgData name="Minjia Zhang" userId="59a6e498068d2940" providerId="LiveId" clId="{3B0E2E81-3A24-4401-9F7D-784152501B12}" dt="2026-04-14T06:05:20.564" v="7" actId="20577"/>
        <pc:sldMkLst>
          <pc:docMk/>
          <pc:sldMk cId="1712161224" sldId="21474690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873B1-2F26-4F8F-B8AF-370E9EDB3F75}"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5917C0-6D30-442A-8B8E-2AF16F74835F}" type="slidenum">
              <a:rPr lang="en-US" smtClean="0"/>
              <a:t>‹#›</a:t>
            </a:fld>
            <a:endParaRPr lang="en-US"/>
          </a:p>
        </p:txBody>
      </p:sp>
    </p:spTree>
    <p:extLst>
      <p:ext uri="{BB962C8B-B14F-4D97-AF65-F5344CB8AC3E}">
        <p14:creationId xmlns:p14="http://schemas.microsoft.com/office/powerpoint/2010/main" val="2404825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411FE-D964-BDE9-F338-3D0DF6758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11E43-609C-D979-B3A7-7EBC7474D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C0674-7C46-3438-4316-777E4D9FAE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half of the semester, let’s move to ML system for inference. </a:t>
            </a:r>
          </a:p>
          <a:p>
            <a:endParaRPr lang="en-US" dirty="0"/>
          </a:p>
          <a:p>
            <a:r>
              <a:rPr lang="en-US" dirty="0"/>
              <a:t>This lecture will first give an overview of DL inference optimization before we deep diving into more details. After this lecture, you will get an overview of the background, challenges, system and algorithm optimizations people have done to improve inference efficiency.</a:t>
            </a:r>
          </a:p>
        </p:txBody>
      </p:sp>
      <p:sp>
        <p:nvSpPr>
          <p:cNvPr id="4" name="Slide Number Placeholder 3">
            <a:extLst>
              <a:ext uri="{FF2B5EF4-FFF2-40B4-BE49-F238E27FC236}">
                <a16:creationId xmlns:a16="http://schemas.microsoft.com/office/drawing/2014/main" id="{FCD7840C-0A95-C4A4-446E-7EF5C0F881EA}"/>
              </a:ext>
            </a:extLst>
          </p:cNvPr>
          <p:cNvSpPr>
            <a:spLocks noGrp="1"/>
          </p:cNvSpPr>
          <p:nvPr>
            <p:ph type="sldNum" sz="quarter" idx="5"/>
          </p:nvPr>
        </p:nvSpPr>
        <p:spPr/>
        <p:txBody>
          <a:bodyPr/>
          <a:lstStyle/>
          <a:p>
            <a:fld id="{0CE82076-DA9B-4950-AF94-173B4F7BAA45}" type="slidenum">
              <a:rPr lang="en-US" smtClean="0"/>
              <a:t>2</a:t>
            </a:fld>
            <a:endParaRPr lang="en-US"/>
          </a:p>
        </p:txBody>
      </p:sp>
    </p:spTree>
    <p:extLst>
      <p:ext uri="{BB962C8B-B14F-4D97-AF65-F5344CB8AC3E}">
        <p14:creationId xmlns:p14="http://schemas.microsoft.com/office/powerpoint/2010/main" val="1667753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C75E2-2A2A-B6DF-4B1D-C05E36B0E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192C2-9B2E-B542-5C22-DE26DBAAF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5FCBC-FBB5-BE63-A06A-5E8D32AEFC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 expensive tons of GPUs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reason: models are large. Each GPU only serve a handful of request per second.  LLMaa13B, moderate input size, 1 A100 process &lt; 1 request per second.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 spent billions and bought hundreds of thousands of h100. Cost billions or tens of billions.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Improve throughput reduce cost.</a:t>
            </a:r>
          </a:p>
        </p:txBody>
      </p:sp>
      <p:sp>
        <p:nvSpPr>
          <p:cNvPr id="4" name="Slide Number Placeholder 3">
            <a:extLst>
              <a:ext uri="{FF2B5EF4-FFF2-40B4-BE49-F238E27FC236}">
                <a16:creationId xmlns:a16="http://schemas.microsoft.com/office/drawing/2014/main" id="{7E3D618A-293B-8548-D256-DBFA95826277}"/>
              </a:ext>
            </a:extLst>
          </p:cNvPr>
          <p:cNvSpPr>
            <a:spLocks noGrp="1"/>
          </p:cNvSpPr>
          <p:nvPr>
            <p:ph type="sldNum" sz="quarter" idx="5"/>
          </p:nvPr>
        </p:nvSpPr>
        <p:spPr/>
        <p:txBody>
          <a:bodyPr/>
          <a:lstStyle/>
          <a:p>
            <a:fld id="{0CE82076-DA9B-4950-AF94-173B4F7BAA45}" type="slidenum">
              <a:rPr lang="en-US" smtClean="0"/>
              <a:t>3</a:t>
            </a:fld>
            <a:endParaRPr lang="en-US"/>
          </a:p>
        </p:txBody>
      </p:sp>
    </p:spTree>
    <p:extLst>
      <p:ext uri="{BB962C8B-B14F-4D97-AF65-F5344CB8AC3E}">
        <p14:creationId xmlns:p14="http://schemas.microsoft.com/office/powerpoint/2010/main" val="3282523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a:extLst>
            <a:ext uri="{FF2B5EF4-FFF2-40B4-BE49-F238E27FC236}">
              <a16:creationId xmlns:a16="http://schemas.microsoft.com/office/drawing/2014/main" id="{A9E3EA31-85F6-D480-8D3B-0819C4FA8A18}"/>
            </a:ext>
          </a:extLst>
        </p:cNvPr>
        <p:cNvGrpSpPr/>
        <p:nvPr/>
      </p:nvGrpSpPr>
      <p:grpSpPr>
        <a:xfrm>
          <a:off x="0" y="0"/>
          <a:ext cx="0" cy="0"/>
          <a:chOff x="0" y="0"/>
          <a:chExt cx="0" cy="0"/>
        </a:xfrm>
      </p:grpSpPr>
      <p:sp>
        <p:nvSpPr>
          <p:cNvPr id="980" name="Google Shape;980;g2fa11a3d722_0_16:notes">
            <a:extLst>
              <a:ext uri="{FF2B5EF4-FFF2-40B4-BE49-F238E27FC236}">
                <a16:creationId xmlns:a16="http://schemas.microsoft.com/office/drawing/2014/main" id="{B49FDE41-3168-A82B-73AE-B24FDCF57B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2fa11a3d722_0_16:notes">
            <a:extLst>
              <a:ext uri="{FF2B5EF4-FFF2-40B4-BE49-F238E27FC236}">
                <a16:creationId xmlns:a16="http://schemas.microsoft.com/office/drawing/2014/main" id="{43B42E96-E60E-CE40-E232-6C0B3A0BBF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CB already improve, but same technology, </a:t>
            </a:r>
            <a:r>
              <a:rPr lang="en-US" dirty="0" err="1"/>
              <a:t>vlmm</a:t>
            </a:r>
            <a:r>
              <a:rPr lang="en-US" dirty="0"/>
              <a:t> has higher throughput why?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Key is in </a:t>
            </a:r>
            <a:r>
              <a:rPr lang="en-US" dirty="0" err="1"/>
              <a:t>kv</a:t>
            </a:r>
            <a:r>
              <a:rPr lang="en-US" dirty="0"/>
              <a:t> cache management. But how?</a:t>
            </a:r>
            <a:endParaRPr dirty="0"/>
          </a:p>
        </p:txBody>
      </p:sp>
    </p:spTree>
    <p:extLst>
      <p:ext uri="{BB962C8B-B14F-4D97-AF65-F5344CB8AC3E}">
        <p14:creationId xmlns:p14="http://schemas.microsoft.com/office/powerpoint/2010/main" val="496755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73BD-0E94-15B4-8AF7-BC55296E6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D16D6-E1D2-0BA7-00C2-8861471702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76AF3-5880-09D1-7E28-06001B7EFD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Need to first understand what </a:t>
            </a:r>
            <a:r>
              <a:rPr lang="en-US" dirty="0" err="1"/>
              <a:t>kv</a:t>
            </a:r>
            <a:r>
              <a:rPr lang="en-US" dirty="0"/>
              <a:t> cache 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Highly related to transformer. Used by all </a:t>
            </a:r>
            <a:r>
              <a:rPr lang="en-US" dirty="0" err="1"/>
              <a:t>LLms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Transfomer</a:t>
            </a:r>
            <a:r>
              <a:rPr lang="en-US" dirty="0"/>
              <a:t> has </a:t>
            </a:r>
            <a:r>
              <a:rPr lang="en-US" dirty="0" err="1"/>
              <a:t>mult</a:t>
            </a:r>
            <a:r>
              <a:rPr lang="en-US" dirty="0"/>
              <a:t>-head attention. Each attention head does scaled dot-product attention.</a:t>
            </a:r>
          </a:p>
        </p:txBody>
      </p:sp>
      <p:sp>
        <p:nvSpPr>
          <p:cNvPr id="4" name="Slide Number Placeholder 3">
            <a:extLst>
              <a:ext uri="{FF2B5EF4-FFF2-40B4-BE49-F238E27FC236}">
                <a16:creationId xmlns:a16="http://schemas.microsoft.com/office/drawing/2014/main" id="{FEBAD1FF-B58A-BF21-2AA7-CA9D6C546D24}"/>
              </a:ext>
            </a:extLst>
          </p:cNvPr>
          <p:cNvSpPr>
            <a:spLocks noGrp="1"/>
          </p:cNvSpPr>
          <p:nvPr>
            <p:ph type="sldNum" sz="quarter" idx="5"/>
          </p:nvPr>
        </p:nvSpPr>
        <p:spPr/>
        <p:txBody>
          <a:bodyPr/>
          <a:lstStyle/>
          <a:p>
            <a:fld id="{0CE82076-DA9B-4950-AF94-173B4F7BAA45}" type="slidenum">
              <a:rPr lang="en-US" smtClean="0"/>
              <a:t>5</a:t>
            </a:fld>
            <a:endParaRPr lang="en-US"/>
          </a:p>
        </p:txBody>
      </p:sp>
    </p:spTree>
    <p:extLst>
      <p:ext uri="{BB962C8B-B14F-4D97-AF65-F5344CB8AC3E}">
        <p14:creationId xmlns:p14="http://schemas.microsoft.com/office/powerpoint/2010/main" val="1567778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D6AC-D25E-F7C6-1440-45A4227B8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74351-CAA6-F84C-C5A4-5805B23D3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F4E7AB-7E96-CBFD-62C7-6C75654483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Input embedding needs transformation QKV projection, get projected query, key, value embeddings. </a:t>
            </a:r>
          </a:p>
        </p:txBody>
      </p:sp>
      <p:sp>
        <p:nvSpPr>
          <p:cNvPr id="4" name="Slide Number Placeholder 3">
            <a:extLst>
              <a:ext uri="{FF2B5EF4-FFF2-40B4-BE49-F238E27FC236}">
                <a16:creationId xmlns:a16="http://schemas.microsoft.com/office/drawing/2014/main" id="{A723B31B-85B8-498C-39E6-2BCA68604D8F}"/>
              </a:ext>
            </a:extLst>
          </p:cNvPr>
          <p:cNvSpPr>
            <a:spLocks noGrp="1"/>
          </p:cNvSpPr>
          <p:nvPr>
            <p:ph type="sldNum" sz="quarter" idx="5"/>
          </p:nvPr>
        </p:nvSpPr>
        <p:spPr/>
        <p:txBody>
          <a:bodyPr/>
          <a:lstStyle/>
          <a:p>
            <a:fld id="{0CE82076-DA9B-4950-AF94-173B4F7BAA45}" type="slidenum">
              <a:rPr lang="en-US" smtClean="0"/>
              <a:t>6</a:t>
            </a:fld>
            <a:endParaRPr lang="en-US"/>
          </a:p>
        </p:txBody>
      </p:sp>
    </p:spTree>
    <p:extLst>
      <p:ext uri="{BB962C8B-B14F-4D97-AF65-F5344CB8AC3E}">
        <p14:creationId xmlns:p14="http://schemas.microsoft.com/office/powerpoint/2010/main" val="2554510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DACEE-D481-5C9C-2C9B-3789A9F77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E7B9F-18A8-58D1-C257-2082F45B6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E6B1E-88DC-E79E-D7B6-6E74A0A091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Softmax</a:t>
            </a:r>
            <a:r>
              <a:rPr lang="en-US" dirty="0"/>
              <a:t>, after weighted sum.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Forget, check the content in 2</a:t>
            </a:r>
            <a:r>
              <a:rPr lang="en-US" baseline="30000" dirty="0"/>
              <a:t>nd</a:t>
            </a:r>
            <a:r>
              <a:rPr lang="en-US" dirty="0"/>
              <a:t> or 3</a:t>
            </a:r>
            <a:r>
              <a:rPr lang="en-US" baseline="30000" dirty="0"/>
              <a:t>rd</a:t>
            </a:r>
            <a:r>
              <a:rPr lang="en-US" dirty="0"/>
              <a:t> lecture. Deep dive into transformer.</a:t>
            </a:r>
          </a:p>
        </p:txBody>
      </p:sp>
      <p:sp>
        <p:nvSpPr>
          <p:cNvPr id="4" name="Slide Number Placeholder 3">
            <a:extLst>
              <a:ext uri="{FF2B5EF4-FFF2-40B4-BE49-F238E27FC236}">
                <a16:creationId xmlns:a16="http://schemas.microsoft.com/office/drawing/2014/main" id="{558D2D47-25C7-BF68-A73F-79B327816FBF}"/>
              </a:ext>
            </a:extLst>
          </p:cNvPr>
          <p:cNvSpPr>
            <a:spLocks noGrp="1"/>
          </p:cNvSpPr>
          <p:nvPr>
            <p:ph type="sldNum" sz="quarter" idx="5"/>
          </p:nvPr>
        </p:nvSpPr>
        <p:spPr/>
        <p:txBody>
          <a:bodyPr/>
          <a:lstStyle/>
          <a:p>
            <a:fld id="{0CE82076-DA9B-4950-AF94-173B4F7BAA45}" type="slidenum">
              <a:rPr lang="en-US" smtClean="0"/>
              <a:t>7</a:t>
            </a:fld>
            <a:endParaRPr lang="en-US"/>
          </a:p>
        </p:txBody>
      </p:sp>
    </p:spTree>
    <p:extLst>
      <p:ext uri="{BB962C8B-B14F-4D97-AF65-F5344CB8AC3E}">
        <p14:creationId xmlns:p14="http://schemas.microsoft.com/office/powerpoint/2010/main" val="2284150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A27F3-2328-F003-526C-A12DDBF43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54EFB-4D3F-B28F-2EEE-6FE3A24F3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FE6D7-1856-5F16-4CBB-C3A3D6190F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Autoregressive inference, one token at a time.  Need to decode one token at a time. Get a new context. Predict the next token. Repeat.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token in the system. Q, * K = QK transpose. For </a:t>
            </a:r>
            <a:r>
              <a:rPr lang="en-US" dirty="0" err="1"/>
              <a:t>simplificity</a:t>
            </a:r>
            <a:r>
              <a:rPr lang="en-US" dirty="0"/>
              <a:t>, let’s assume key is 1, but in the example showed, k is 5. For </a:t>
            </a:r>
            <a:r>
              <a:rPr lang="en-US" dirty="0" err="1"/>
              <a:t>simplificity</a:t>
            </a:r>
            <a:r>
              <a:rPr lang="en-US" dirty="0"/>
              <a:t>, assume input token is 1. QK, multiple V, get the weighted sum of token representation.</a:t>
            </a:r>
          </a:p>
        </p:txBody>
      </p:sp>
      <p:sp>
        <p:nvSpPr>
          <p:cNvPr id="4" name="Slide Number Placeholder 3">
            <a:extLst>
              <a:ext uri="{FF2B5EF4-FFF2-40B4-BE49-F238E27FC236}">
                <a16:creationId xmlns:a16="http://schemas.microsoft.com/office/drawing/2014/main" id="{5C103ADC-B79E-3CBB-FA13-EA2E130F378C}"/>
              </a:ext>
            </a:extLst>
          </p:cNvPr>
          <p:cNvSpPr>
            <a:spLocks noGrp="1"/>
          </p:cNvSpPr>
          <p:nvPr>
            <p:ph type="sldNum" sz="quarter" idx="5"/>
          </p:nvPr>
        </p:nvSpPr>
        <p:spPr/>
        <p:txBody>
          <a:bodyPr/>
          <a:lstStyle/>
          <a:p>
            <a:fld id="{0CE82076-DA9B-4950-AF94-173B4F7BAA45}" type="slidenum">
              <a:rPr lang="en-US" smtClean="0"/>
              <a:t>8</a:t>
            </a:fld>
            <a:endParaRPr lang="en-US"/>
          </a:p>
        </p:txBody>
      </p:sp>
    </p:spTree>
    <p:extLst>
      <p:ext uri="{BB962C8B-B14F-4D97-AF65-F5344CB8AC3E}">
        <p14:creationId xmlns:p14="http://schemas.microsoft.com/office/powerpoint/2010/main" val="1158435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CB52-588D-F7CC-BCF5-B65ADA7CC3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E5BFE-DC93-94A2-554F-3678CC338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8027F-9CE5-0EC9-C7BC-309A9E9AA7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New sentence now has two tokens.  QK transpose. Only need to attend tokens on the left. The QK transpose is triangular matrix. </a:t>
            </a:r>
            <a:r>
              <a:rPr lang="en-US" dirty="0" err="1"/>
              <a:t>Softmax</a:t>
            </a:r>
            <a:r>
              <a:rPr lang="en-US" dirty="0"/>
              <a:t>, then weighted sum.</a:t>
            </a:r>
          </a:p>
        </p:txBody>
      </p:sp>
      <p:sp>
        <p:nvSpPr>
          <p:cNvPr id="4" name="Slide Number Placeholder 3">
            <a:extLst>
              <a:ext uri="{FF2B5EF4-FFF2-40B4-BE49-F238E27FC236}">
                <a16:creationId xmlns:a16="http://schemas.microsoft.com/office/drawing/2014/main" id="{245663C4-BAD4-9E81-20E2-3A283220C726}"/>
              </a:ext>
            </a:extLst>
          </p:cNvPr>
          <p:cNvSpPr>
            <a:spLocks noGrp="1"/>
          </p:cNvSpPr>
          <p:nvPr>
            <p:ph type="sldNum" sz="quarter" idx="5"/>
          </p:nvPr>
        </p:nvSpPr>
        <p:spPr/>
        <p:txBody>
          <a:bodyPr/>
          <a:lstStyle/>
          <a:p>
            <a:fld id="{0CE82076-DA9B-4950-AF94-173B4F7BAA45}" type="slidenum">
              <a:rPr lang="en-US" smtClean="0"/>
              <a:t>9</a:t>
            </a:fld>
            <a:endParaRPr lang="en-US"/>
          </a:p>
        </p:txBody>
      </p:sp>
    </p:spTree>
    <p:extLst>
      <p:ext uri="{BB962C8B-B14F-4D97-AF65-F5344CB8AC3E}">
        <p14:creationId xmlns:p14="http://schemas.microsoft.com/office/powerpoint/2010/main" val="2319933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CA412-E612-D48B-8F9A-57BBD7478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84F74-F0AE-E711-91C2-547135E00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33C13-5000-716A-6158-A7A909ABCA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half of the semester, let’s move to ML system for inference. </a:t>
            </a:r>
          </a:p>
          <a:p>
            <a:endParaRPr lang="en-US" dirty="0"/>
          </a:p>
          <a:p>
            <a:r>
              <a:rPr lang="en-US" dirty="0"/>
              <a:t>This lecture will first give an overview of DL inference optimization before we deep diving into more details. After this lecture, you will get an overview of the background, challenges, system and algorithm optimizations people have done to improve inference efficiency.</a:t>
            </a:r>
          </a:p>
        </p:txBody>
      </p:sp>
      <p:sp>
        <p:nvSpPr>
          <p:cNvPr id="4" name="Slide Number Placeholder 3">
            <a:extLst>
              <a:ext uri="{FF2B5EF4-FFF2-40B4-BE49-F238E27FC236}">
                <a16:creationId xmlns:a16="http://schemas.microsoft.com/office/drawing/2014/main" id="{2BA107F7-6742-04EB-604E-D09A6889E0B9}"/>
              </a:ext>
            </a:extLst>
          </p:cNvPr>
          <p:cNvSpPr>
            <a:spLocks noGrp="1"/>
          </p:cNvSpPr>
          <p:nvPr>
            <p:ph type="sldNum" sz="quarter" idx="5"/>
          </p:nvPr>
        </p:nvSpPr>
        <p:spPr/>
        <p:txBody>
          <a:bodyPr/>
          <a:lstStyle/>
          <a:p>
            <a:fld id="{0CE82076-DA9B-4950-AF94-173B4F7BAA45}" type="slidenum">
              <a:rPr lang="en-US" smtClean="0"/>
              <a:t>10</a:t>
            </a:fld>
            <a:endParaRPr lang="en-US"/>
          </a:p>
        </p:txBody>
      </p:sp>
    </p:spTree>
    <p:extLst>
      <p:ext uri="{BB962C8B-B14F-4D97-AF65-F5344CB8AC3E}">
        <p14:creationId xmlns:p14="http://schemas.microsoft.com/office/powerpoint/2010/main" val="1644256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B2426-2934-2CA0-8022-2952D4E1D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4922A-D603-C760-EB85-287FF835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54CBD0-F170-6C57-AC71-ED004162B4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half of the semester, let’s move to ML system for inference. </a:t>
            </a:r>
          </a:p>
          <a:p>
            <a:endParaRPr lang="en-US" dirty="0"/>
          </a:p>
          <a:p>
            <a:r>
              <a:rPr lang="en-US" dirty="0"/>
              <a:t>This lecture will first give an overview of DL inference optimization before we deep diving into more details. After this lecture, you will get an overview of the background, challenges, system and algorithm optimizations people have done to improve inference efficiency.</a:t>
            </a:r>
          </a:p>
        </p:txBody>
      </p:sp>
      <p:sp>
        <p:nvSpPr>
          <p:cNvPr id="4" name="Slide Number Placeholder 3">
            <a:extLst>
              <a:ext uri="{FF2B5EF4-FFF2-40B4-BE49-F238E27FC236}">
                <a16:creationId xmlns:a16="http://schemas.microsoft.com/office/drawing/2014/main" id="{0BBE89A0-BD03-FA9C-08B2-ECE5DE9230D5}"/>
              </a:ext>
            </a:extLst>
          </p:cNvPr>
          <p:cNvSpPr>
            <a:spLocks noGrp="1"/>
          </p:cNvSpPr>
          <p:nvPr>
            <p:ph type="sldNum" sz="quarter" idx="5"/>
          </p:nvPr>
        </p:nvSpPr>
        <p:spPr/>
        <p:txBody>
          <a:bodyPr/>
          <a:lstStyle/>
          <a:p>
            <a:fld id="{0CE82076-DA9B-4950-AF94-173B4F7BAA45}" type="slidenum">
              <a:rPr lang="en-US" smtClean="0"/>
              <a:t>11</a:t>
            </a:fld>
            <a:endParaRPr lang="en-US"/>
          </a:p>
        </p:txBody>
      </p:sp>
    </p:spTree>
    <p:extLst>
      <p:ext uri="{BB962C8B-B14F-4D97-AF65-F5344CB8AC3E}">
        <p14:creationId xmlns:p14="http://schemas.microsoft.com/office/powerpoint/2010/main" val="3567244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39489-48E8-C18B-0E68-7E9F9808C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6CC16-E0D9-8383-26A4-C053302264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C3C17-7555-87E8-137C-E58C4E24FD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half of the semester, let’s move to ML system for inference. </a:t>
            </a:r>
          </a:p>
          <a:p>
            <a:endParaRPr lang="en-US" dirty="0"/>
          </a:p>
          <a:p>
            <a:r>
              <a:rPr lang="en-US" dirty="0"/>
              <a:t>This lecture will first give an overview of DL inference optimization before we deep diving into more details. After this lecture, you will get an overview of the background, challenges, system and algorithm optimizations people have done to improve inference efficiency.</a:t>
            </a:r>
          </a:p>
          <a:p>
            <a:endParaRPr lang="en-US" dirty="0"/>
          </a:p>
          <a:p>
            <a:r>
              <a:rPr lang="en-US" dirty="0"/>
              <a:t>Every step, need to calculate the attention, and attention is quadratic the sequence length. Repeated projection of Q, K, V.</a:t>
            </a:r>
          </a:p>
        </p:txBody>
      </p:sp>
      <p:sp>
        <p:nvSpPr>
          <p:cNvPr id="4" name="Slide Number Placeholder 3">
            <a:extLst>
              <a:ext uri="{FF2B5EF4-FFF2-40B4-BE49-F238E27FC236}">
                <a16:creationId xmlns:a16="http://schemas.microsoft.com/office/drawing/2014/main" id="{B8DE293A-3E6A-3140-4175-21302393013C}"/>
              </a:ext>
            </a:extLst>
          </p:cNvPr>
          <p:cNvSpPr>
            <a:spLocks noGrp="1"/>
          </p:cNvSpPr>
          <p:nvPr>
            <p:ph type="sldNum" sz="quarter" idx="5"/>
          </p:nvPr>
        </p:nvSpPr>
        <p:spPr/>
        <p:txBody>
          <a:bodyPr/>
          <a:lstStyle/>
          <a:p>
            <a:fld id="{0CE82076-DA9B-4950-AF94-173B4F7BAA45}" type="slidenum">
              <a:rPr lang="en-US" smtClean="0"/>
              <a:t>12</a:t>
            </a:fld>
            <a:endParaRPr lang="en-US"/>
          </a:p>
        </p:txBody>
      </p:sp>
    </p:spTree>
    <p:extLst>
      <p:ext uri="{BB962C8B-B14F-4D97-AF65-F5344CB8AC3E}">
        <p14:creationId xmlns:p14="http://schemas.microsoft.com/office/powerpoint/2010/main" val="4083718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C6B73-D48B-1907-47E6-6C51EDE00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C770D-B628-E4AE-F82C-191244B4F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283C2-2C6F-8DE3-F53F-7CD0F7E6E3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KV cache. Noticed redundant computation.  Query token 1 multiple key token 1 has already been done.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Same example, without cache, and with cache.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you need is just the attention to get the weighted sum for the new token. Don’t really care about the output token that has already been predicted.</a:t>
            </a:r>
          </a:p>
        </p:txBody>
      </p:sp>
      <p:sp>
        <p:nvSpPr>
          <p:cNvPr id="4" name="Slide Number Placeholder 3">
            <a:extLst>
              <a:ext uri="{FF2B5EF4-FFF2-40B4-BE49-F238E27FC236}">
                <a16:creationId xmlns:a16="http://schemas.microsoft.com/office/drawing/2014/main" id="{B2E8AB1A-89CF-71DF-F807-49474B1BF109}"/>
              </a:ext>
            </a:extLst>
          </p:cNvPr>
          <p:cNvSpPr>
            <a:spLocks noGrp="1"/>
          </p:cNvSpPr>
          <p:nvPr>
            <p:ph type="sldNum" sz="quarter" idx="5"/>
          </p:nvPr>
        </p:nvSpPr>
        <p:spPr/>
        <p:txBody>
          <a:bodyPr/>
          <a:lstStyle/>
          <a:p>
            <a:fld id="{0CE82076-DA9B-4950-AF94-173B4F7BAA45}" type="slidenum">
              <a:rPr lang="en-US" smtClean="0"/>
              <a:t>13</a:t>
            </a:fld>
            <a:endParaRPr lang="en-US"/>
          </a:p>
        </p:txBody>
      </p:sp>
    </p:spTree>
    <p:extLst>
      <p:ext uri="{BB962C8B-B14F-4D97-AF65-F5344CB8AC3E}">
        <p14:creationId xmlns:p14="http://schemas.microsoft.com/office/powerpoint/2010/main" val="3061061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B47D-F1D4-1F14-BAD0-43B97D280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BE09C-651C-01B1-154D-B97D7EBF9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A01AA-6923-1CD2-2AA7-76A2DCB245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need to project key for token 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we also don’t really need token 1 output</a:t>
            </a:r>
          </a:p>
        </p:txBody>
      </p:sp>
      <p:sp>
        <p:nvSpPr>
          <p:cNvPr id="4" name="Slide Number Placeholder 3">
            <a:extLst>
              <a:ext uri="{FF2B5EF4-FFF2-40B4-BE49-F238E27FC236}">
                <a16:creationId xmlns:a16="http://schemas.microsoft.com/office/drawing/2014/main" id="{C1148FB6-97E5-691D-8E76-01BC2C89AAF1}"/>
              </a:ext>
            </a:extLst>
          </p:cNvPr>
          <p:cNvSpPr>
            <a:spLocks noGrp="1"/>
          </p:cNvSpPr>
          <p:nvPr>
            <p:ph type="sldNum" sz="quarter" idx="5"/>
          </p:nvPr>
        </p:nvSpPr>
        <p:spPr/>
        <p:txBody>
          <a:bodyPr/>
          <a:lstStyle/>
          <a:p>
            <a:fld id="{0CE82076-DA9B-4950-AF94-173B4F7BAA45}" type="slidenum">
              <a:rPr lang="en-US" smtClean="0"/>
              <a:t>14</a:t>
            </a:fld>
            <a:endParaRPr lang="en-US"/>
          </a:p>
        </p:txBody>
      </p:sp>
    </p:spTree>
    <p:extLst>
      <p:ext uri="{BB962C8B-B14F-4D97-AF65-F5344CB8AC3E}">
        <p14:creationId xmlns:p14="http://schemas.microsoft.com/office/powerpoint/2010/main" val="1613361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2BDA3-8CED-5A4F-F52C-B0B9F26E1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33601-4AD2-E5E3-BDF9-698B38423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BC3F3-3099-30E5-56B9-0CC6362E6C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33F35B6-864A-8D85-473E-B154BF36002A}"/>
              </a:ext>
            </a:extLst>
          </p:cNvPr>
          <p:cNvSpPr>
            <a:spLocks noGrp="1"/>
          </p:cNvSpPr>
          <p:nvPr>
            <p:ph type="sldNum" sz="quarter" idx="5"/>
          </p:nvPr>
        </p:nvSpPr>
        <p:spPr/>
        <p:txBody>
          <a:bodyPr/>
          <a:lstStyle/>
          <a:p>
            <a:fld id="{0CE82076-DA9B-4950-AF94-173B4F7BAA45}" type="slidenum">
              <a:rPr lang="en-US" smtClean="0"/>
              <a:t>15</a:t>
            </a:fld>
            <a:endParaRPr lang="en-US"/>
          </a:p>
        </p:txBody>
      </p:sp>
    </p:spTree>
    <p:extLst>
      <p:ext uri="{BB962C8B-B14F-4D97-AF65-F5344CB8AC3E}">
        <p14:creationId xmlns:p14="http://schemas.microsoft.com/office/powerpoint/2010/main" val="2264428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619EB-E80D-F036-9177-D225C41433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386F6-0D63-F758-7E30-16D137A22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059C9-3481-D8C6-F713-B6EB4C0FA3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D10B04A-3445-B691-9866-2031C51736D2}"/>
              </a:ext>
            </a:extLst>
          </p:cNvPr>
          <p:cNvSpPr>
            <a:spLocks noGrp="1"/>
          </p:cNvSpPr>
          <p:nvPr>
            <p:ph type="sldNum" sz="quarter" idx="5"/>
          </p:nvPr>
        </p:nvSpPr>
        <p:spPr/>
        <p:txBody>
          <a:bodyPr/>
          <a:lstStyle/>
          <a:p>
            <a:fld id="{0CE82076-DA9B-4950-AF94-173B4F7BAA45}" type="slidenum">
              <a:rPr lang="en-US" smtClean="0"/>
              <a:t>16</a:t>
            </a:fld>
            <a:endParaRPr lang="en-US"/>
          </a:p>
        </p:txBody>
      </p:sp>
    </p:spTree>
    <p:extLst>
      <p:ext uri="{BB962C8B-B14F-4D97-AF65-F5344CB8AC3E}">
        <p14:creationId xmlns:p14="http://schemas.microsoft.com/office/powerpoint/2010/main" val="306391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27C40-D715-1096-23D9-DA8EFDB18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0CEDD-CDE2-D081-94B6-D34D170F8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CC5F3-4600-02BB-4C4F-B6627F77B9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091AF37-6733-94FA-B0F3-D1D23767BD78}"/>
              </a:ext>
            </a:extLst>
          </p:cNvPr>
          <p:cNvSpPr>
            <a:spLocks noGrp="1"/>
          </p:cNvSpPr>
          <p:nvPr>
            <p:ph type="sldNum" sz="quarter" idx="5"/>
          </p:nvPr>
        </p:nvSpPr>
        <p:spPr/>
        <p:txBody>
          <a:bodyPr/>
          <a:lstStyle/>
          <a:p>
            <a:fld id="{0CE82076-DA9B-4950-AF94-173B4F7BAA45}" type="slidenum">
              <a:rPr lang="en-US" smtClean="0"/>
              <a:t>17</a:t>
            </a:fld>
            <a:endParaRPr lang="en-US"/>
          </a:p>
        </p:txBody>
      </p:sp>
    </p:spTree>
    <p:extLst>
      <p:ext uri="{BB962C8B-B14F-4D97-AF65-F5344CB8AC3E}">
        <p14:creationId xmlns:p14="http://schemas.microsoft.com/office/powerpoint/2010/main" val="512787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3601B-2FCF-8852-9272-F05F087FF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6B797-D445-9C3E-11DF-3DDB28034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399DF-FB66-68FF-1047-8338B18E92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5A0B394-A611-1F90-3707-2B3F7F3032BA}"/>
              </a:ext>
            </a:extLst>
          </p:cNvPr>
          <p:cNvSpPr>
            <a:spLocks noGrp="1"/>
          </p:cNvSpPr>
          <p:nvPr>
            <p:ph type="sldNum" sz="quarter" idx="5"/>
          </p:nvPr>
        </p:nvSpPr>
        <p:spPr/>
        <p:txBody>
          <a:bodyPr/>
          <a:lstStyle/>
          <a:p>
            <a:fld id="{0CE82076-DA9B-4950-AF94-173B4F7BAA45}" type="slidenum">
              <a:rPr lang="en-US" smtClean="0"/>
              <a:t>18</a:t>
            </a:fld>
            <a:endParaRPr lang="en-US"/>
          </a:p>
        </p:txBody>
      </p:sp>
    </p:spTree>
    <p:extLst>
      <p:ext uri="{BB962C8B-B14F-4D97-AF65-F5344CB8AC3E}">
        <p14:creationId xmlns:p14="http://schemas.microsoft.com/office/powerpoint/2010/main" val="501349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E414A-B8C8-D80D-2716-EF0D1365B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088DD-C1CA-8A56-C277-E50A9949F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83CFE-4B67-B5A0-C229-A0FA32B140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SH memory</a:t>
            </a:r>
          </a:p>
        </p:txBody>
      </p:sp>
      <p:sp>
        <p:nvSpPr>
          <p:cNvPr id="4" name="Slide Number Placeholder 3">
            <a:extLst>
              <a:ext uri="{FF2B5EF4-FFF2-40B4-BE49-F238E27FC236}">
                <a16:creationId xmlns:a16="http://schemas.microsoft.com/office/drawing/2014/main" id="{E7734E3D-F49E-F439-121F-38DCA9F811C2}"/>
              </a:ext>
            </a:extLst>
          </p:cNvPr>
          <p:cNvSpPr>
            <a:spLocks noGrp="1"/>
          </p:cNvSpPr>
          <p:nvPr>
            <p:ph type="sldNum" sz="quarter" idx="5"/>
          </p:nvPr>
        </p:nvSpPr>
        <p:spPr/>
        <p:txBody>
          <a:bodyPr/>
          <a:lstStyle/>
          <a:p>
            <a:fld id="{0CE82076-DA9B-4950-AF94-173B4F7BAA45}" type="slidenum">
              <a:rPr lang="en-US" smtClean="0"/>
              <a:t>19</a:t>
            </a:fld>
            <a:endParaRPr lang="en-US"/>
          </a:p>
        </p:txBody>
      </p:sp>
    </p:spTree>
    <p:extLst>
      <p:ext uri="{BB962C8B-B14F-4D97-AF65-F5344CB8AC3E}">
        <p14:creationId xmlns:p14="http://schemas.microsoft.com/office/powerpoint/2010/main" val="3788019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D0377-1E72-743B-76B1-828929A13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FD2F5-9132-7AE7-0653-D4B7ED81F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63CCC2-6D0D-F79B-1B2A-18E0CEC23BFE}"/>
              </a:ext>
            </a:extLst>
          </p:cNvPr>
          <p:cNvSpPr>
            <a:spLocks noGrp="1"/>
          </p:cNvSpPr>
          <p:nvPr>
            <p:ph type="body" idx="1"/>
          </p:nvPr>
        </p:nvSpPr>
        <p:spPr/>
        <p:txBody>
          <a:bodyPr/>
          <a:lstStyle/>
          <a:p>
            <a:r>
              <a:rPr lang="en-US" dirty="0"/>
              <a:t>KV cache also depends on layers. Every layer. How efficient we can manage KV cache depends on how large the batch size we can set or max sequence length.</a:t>
            </a:r>
          </a:p>
          <a:p>
            <a:endParaRPr lang="en-US" dirty="0"/>
          </a:p>
          <a:p>
            <a:r>
              <a:rPr lang="en-US" dirty="0"/>
              <a:t>In overview.</a:t>
            </a:r>
          </a:p>
          <a:p>
            <a:endParaRPr lang="en-US" dirty="0"/>
          </a:p>
          <a:p>
            <a:r>
              <a:rPr lang="en-US" dirty="0"/>
              <a:t>LLama3-13b on A100GB. Parameter alone takes 26GB. KV cache only 30%. KV cache is linear with respect to batch size, sequence length, #hidden. Serve LLMs under severe memory pressure. Increase the GPUs increases the cost.</a:t>
            </a:r>
          </a:p>
        </p:txBody>
      </p:sp>
      <p:sp>
        <p:nvSpPr>
          <p:cNvPr id="4" name="Slide Number Placeholder 3">
            <a:extLst>
              <a:ext uri="{FF2B5EF4-FFF2-40B4-BE49-F238E27FC236}">
                <a16:creationId xmlns:a16="http://schemas.microsoft.com/office/drawing/2014/main" id="{45D429A3-BDF9-F62B-3B79-C648D9E2B507}"/>
              </a:ext>
            </a:extLst>
          </p:cNvPr>
          <p:cNvSpPr>
            <a:spLocks noGrp="1"/>
          </p:cNvSpPr>
          <p:nvPr>
            <p:ph type="sldNum" sz="quarter" idx="5"/>
          </p:nvPr>
        </p:nvSpPr>
        <p:spPr/>
        <p:txBody>
          <a:bodyPr/>
          <a:lstStyle/>
          <a:p>
            <a:fld id="{0CE82076-DA9B-4950-AF94-173B4F7BAA45}" type="slidenum">
              <a:rPr lang="en-US" smtClean="0"/>
              <a:t>20</a:t>
            </a:fld>
            <a:endParaRPr lang="en-US"/>
          </a:p>
        </p:txBody>
      </p:sp>
    </p:spTree>
    <p:extLst>
      <p:ext uri="{BB962C8B-B14F-4D97-AF65-F5344CB8AC3E}">
        <p14:creationId xmlns:p14="http://schemas.microsoft.com/office/powerpoint/2010/main" val="2296948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7DF23-0619-4D1B-013A-DDBD0165D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9AD66-2353-2A20-122D-E1883A07F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AA90D-3D34-B0A1-3919-D8B4BFDF063D}"/>
              </a:ext>
            </a:extLst>
          </p:cNvPr>
          <p:cNvSpPr>
            <a:spLocks noGrp="1"/>
          </p:cNvSpPr>
          <p:nvPr>
            <p:ph type="body" idx="1"/>
          </p:nvPr>
        </p:nvSpPr>
        <p:spPr/>
        <p:txBody>
          <a:bodyPr/>
          <a:lstStyle/>
          <a:p>
            <a:r>
              <a:rPr lang="en-US" dirty="0"/>
              <a:t>Weights,</a:t>
            </a:r>
          </a:p>
          <a:p>
            <a:endParaRPr lang="en-US" dirty="0"/>
          </a:p>
          <a:p>
            <a:r>
              <a:rPr lang="en-US" dirty="0"/>
              <a:t>KV cache</a:t>
            </a:r>
          </a:p>
          <a:p>
            <a:endParaRPr lang="en-US" dirty="0"/>
          </a:p>
          <a:p>
            <a:r>
              <a:rPr lang="en-US" dirty="0"/>
              <a:t>Activation</a:t>
            </a:r>
          </a:p>
          <a:p>
            <a:endParaRPr lang="en-US" dirty="0"/>
          </a:p>
          <a:p>
            <a:r>
              <a:rPr lang="en-US" dirty="0"/>
              <a:t>LLama3-13b on A100GB. Parameter alone takes 26GB. KV cache only 30%. KV cache is linear with respect to batch size, sequence length, #hidden. Serve LLMs under severe memory pressure. Increase the GPUs increases the cost.</a:t>
            </a:r>
          </a:p>
        </p:txBody>
      </p:sp>
      <p:sp>
        <p:nvSpPr>
          <p:cNvPr id="4" name="Slide Number Placeholder 3">
            <a:extLst>
              <a:ext uri="{FF2B5EF4-FFF2-40B4-BE49-F238E27FC236}">
                <a16:creationId xmlns:a16="http://schemas.microsoft.com/office/drawing/2014/main" id="{7B9EE56C-317E-08B9-5235-6C8EB92E4637}"/>
              </a:ext>
            </a:extLst>
          </p:cNvPr>
          <p:cNvSpPr>
            <a:spLocks noGrp="1"/>
          </p:cNvSpPr>
          <p:nvPr>
            <p:ph type="sldNum" sz="quarter" idx="5"/>
          </p:nvPr>
        </p:nvSpPr>
        <p:spPr/>
        <p:txBody>
          <a:bodyPr/>
          <a:lstStyle/>
          <a:p>
            <a:fld id="{0CE82076-DA9B-4950-AF94-173B4F7BAA45}" type="slidenum">
              <a:rPr lang="en-US" smtClean="0"/>
              <a:t>21</a:t>
            </a:fld>
            <a:endParaRPr lang="en-US"/>
          </a:p>
        </p:txBody>
      </p:sp>
    </p:spTree>
    <p:extLst>
      <p:ext uri="{BB962C8B-B14F-4D97-AF65-F5344CB8AC3E}">
        <p14:creationId xmlns:p14="http://schemas.microsoft.com/office/powerpoint/2010/main" val="2240590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B1EA5-025C-8FAB-0B7B-7E5525701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1C139-DFFC-BB2D-9D67-95701B31F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7AB0D-6970-6F8C-EBA4-E5DB6BE477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Short answer, waste a lot of memory.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requests A and B. A prompt of length 3 tokens. Currently executing 2 generation steps. May generate more. </a:t>
            </a:r>
          </a:p>
        </p:txBody>
      </p:sp>
      <p:sp>
        <p:nvSpPr>
          <p:cNvPr id="4" name="Slide Number Placeholder 3">
            <a:extLst>
              <a:ext uri="{FF2B5EF4-FFF2-40B4-BE49-F238E27FC236}">
                <a16:creationId xmlns:a16="http://schemas.microsoft.com/office/drawing/2014/main" id="{7E11DDB6-126C-E160-DF7E-1826C2D731F7}"/>
              </a:ext>
            </a:extLst>
          </p:cNvPr>
          <p:cNvSpPr>
            <a:spLocks noGrp="1"/>
          </p:cNvSpPr>
          <p:nvPr>
            <p:ph type="sldNum" sz="quarter" idx="5"/>
          </p:nvPr>
        </p:nvSpPr>
        <p:spPr/>
        <p:txBody>
          <a:bodyPr/>
          <a:lstStyle/>
          <a:p>
            <a:fld id="{0CE82076-DA9B-4950-AF94-173B4F7BAA45}" type="slidenum">
              <a:rPr lang="en-US" smtClean="0"/>
              <a:t>22</a:t>
            </a:fld>
            <a:endParaRPr lang="en-US"/>
          </a:p>
        </p:txBody>
      </p:sp>
    </p:spTree>
    <p:extLst>
      <p:ext uri="{BB962C8B-B14F-4D97-AF65-F5344CB8AC3E}">
        <p14:creationId xmlns:p14="http://schemas.microsoft.com/office/powerpoint/2010/main" val="855823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5D85-BEC7-9A9A-40CE-B1DB7AF82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856FD-707F-CFA3-0C1B-FD8DFAFF1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9D0FA-674A-9074-A730-EEBCA91869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C71EE75-D057-C04F-BEB2-667407B456DA}"/>
              </a:ext>
            </a:extLst>
          </p:cNvPr>
          <p:cNvSpPr>
            <a:spLocks noGrp="1"/>
          </p:cNvSpPr>
          <p:nvPr>
            <p:ph type="sldNum" sz="quarter" idx="5"/>
          </p:nvPr>
        </p:nvSpPr>
        <p:spPr/>
        <p:txBody>
          <a:bodyPr/>
          <a:lstStyle/>
          <a:p>
            <a:fld id="{0CE82076-DA9B-4950-AF94-173B4F7BAA45}" type="slidenum">
              <a:rPr lang="en-US" smtClean="0"/>
              <a:t>23</a:t>
            </a:fld>
            <a:endParaRPr lang="en-US"/>
          </a:p>
        </p:txBody>
      </p:sp>
    </p:spTree>
    <p:extLst>
      <p:ext uri="{BB962C8B-B14F-4D97-AF65-F5344CB8AC3E}">
        <p14:creationId xmlns:p14="http://schemas.microsoft.com/office/powerpoint/2010/main" val="2312179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C1850-7A07-6DAD-459A-D666A6F27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6AF17-060E-8379-8689-E33924BD7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F76FC-1DD3-D64F-31F1-824FDC52E4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Internal fragmentation. Reserved for a request but left unused by the output sequence is smaller than max. Say max is 2048, then 2040 slots left unused.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2048</a:t>
            </a:r>
          </a:p>
        </p:txBody>
      </p:sp>
      <p:sp>
        <p:nvSpPr>
          <p:cNvPr id="4" name="Slide Number Placeholder 3">
            <a:extLst>
              <a:ext uri="{FF2B5EF4-FFF2-40B4-BE49-F238E27FC236}">
                <a16:creationId xmlns:a16="http://schemas.microsoft.com/office/drawing/2014/main" id="{BFA17F07-B211-6AB8-71F1-FF61ED13D7DE}"/>
              </a:ext>
            </a:extLst>
          </p:cNvPr>
          <p:cNvSpPr>
            <a:spLocks noGrp="1"/>
          </p:cNvSpPr>
          <p:nvPr>
            <p:ph type="sldNum" sz="quarter" idx="5"/>
          </p:nvPr>
        </p:nvSpPr>
        <p:spPr/>
        <p:txBody>
          <a:bodyPr/>
          <a:lstStyle/>
          <a:p>
            <a:fld id="{0CE82076-DA9B-4950-AF94-173B4F7BAA45}" type="slidenum">
              <a:rPr lang="en-US" smtClean="0"/>
              <a:t>24</a:t>
            </a:fld>
            <a:endParaRPr lang="en-US"/>
          </a:p>
        </p:txBody>
      </p:sp>
    </p:spTree>
    <p:extLst>
      <p:ext uri="{BB962C8B-B14F-4D97-AF65-F5344CB8AC3E}">
        <p14:creationId xmlns:p14="http://schemas.microsoft.com/office/powerpoint/2010/main" val="1822122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E42BC-DAA0-E2BC-B8FD-509260E3D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134F6-422A-5C57-052E-C560D72D8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DA46D-0B30-E305-C884-513D662D26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reservation?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Tokens that are actually used for future prediction by the same request? Not wasted.</a:t>
            </a:r>
          </a:p>
        </p:txBody>
      </p:sp>
      <p:sp>
        <p:nvSpPr>
          <p:cNvPr id="4" name="Slide Number Placeholder 3">
            <a:extLst>
              <a:ext uri="{FF2B5EF4-FFF2-40B4-BE49-F238E27FC236}">
                <a16:creationId xmlns:a16="http://schemas.microsoft.com/office/drawing/2014/main" id="{A489300B-AC8F-9BFD-2DD0-3D9742DD1785}"/>
              </a:ext>
            </a:extLst>
          </p:cNvPr>
          <p:cNvSpPr>
            <a:spLocks noGrp="1"/>
          </p:cNvSpPr>
          <p:nvPr>
            <p:ph type="sldNum" sz="quarter" idx="5"/>
          </p:nvPr>
        </p:nvSpPr>
        <p:spPr/>
        <p:txBody>
          <a:bodyPr/>
          <a:lstStyle/>
          <a:p>
            <a:fld id="{0CE82076-DA9B-4950-AF94-173B4F7BAA45}" type="slidenum">
              <a:rPr lang="en-US" smtClean="0"/>
              <a:t>25</a:t>
            </a:fld>
            <a:endParaRPr lang="en-US"/>
          </a:p>
        </p:txBody>
      </p:sp>
    </p:spTree>
    <p:extLst>
      <p:ext uri="{BB962C8B-B14F-4D97-AF65-F5344CB8AC3E}">
        <p14:creationId xmlns:p14="http://schemas.microsoft.com/office/powerpoint/2010/main" val="1786884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33044-5853-B258-BA39-64770FFCF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3FE5E-6E53-38DD-17F7-70FB349DD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60AE1-37C9-330D-7C1F-D0D576FCF6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external fragmentation.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 have variable sequence length. Small unused allocation from GPU memory allocator.</a:t>
            </a:r>
          </a:p>
        </p:txBody>
      </p:sp>
      <p:sp>
        <p:nvSpPr>
          <p:cNvPr id="4" name="Slide Number Placeholder 3">
            <a:extLst>
              <a:ext uri="{FF2B5EF4-FFF2-40B4-BE49-F238E27FC236}">
                <a16:creationId xmlns:a16="http://schemas.microsoft.com/office/drawing/2014/main" id="{3F3AB239-1776-6BC7-D255-E488B6B337BA}"/>
              </a:ext>
            </a:extLst>
          </p:cNvPr>
          <p:cNvSpPr>
            <a:spLocks noGrp="1"/>
          </p:cNvSpPr>
          <p:nvPr>
            <p:ph type="sldNum" sz="quarter" idx="5"/>
          </p:nvPr>
        </p:nvSpPr>
        <p:spPr/>
        <p:txBody>
          <a:bodyPr/>
          <a:lstStyle/>
          <a:p>
            <a:fld id="{0CE82076-DA9B-4950-AF94-173B4F7BAA45}" type="slidenum">
              <a:rPr lang="en-US" smtClean="0"/>
              <a:t>26</a:t>
            </a:fld>
            <a:endParaRPr lang="en-US"/>
          </a:p>
        </p:txBody>
      </p:sp>
    </p:spTree>
    <p:extLst>
      <p:ext uri="{BB962C8B-B14F-4D97-AF65-F5344CB8AC3E}">
        <p14:creationId xmlns:p14="http://schemas.microsoft.com/office/powerpoint/2010/main" val="3820480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47C52-2879-468B-2FCF-4E61209A5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1A6EF-0191-CB93-BF03-E04393BC9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29EDB-4EF5-91BC-C5F0-E757D28984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Max, pow2, oracle, different paging strategy.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Max: always max sequence length, simple but lots of internal fragments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Pow2: pages are allocated power of 2, like buddy system. More efficient than max but still moderate fragmentation. Drop in internal fragmentation. But external fragmentation increases. Pow2 often over reserve space.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Perfect knowledge Ideally lower bound. No internal frag.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Oracle, ideal length. System allocates just enough </a:t>
            </a:r>
            <a:r>
              <a:rPr lang="en-US" dirty="0" err="1"/>
              <a:t>kv</a:t>
            </a:r>
            <a:r>
              <a:rPr lang="en-US" dirty="0"/>
              <a:t> cache.  Page granularity.</a:t>
            </a:r>
          </a:p>
        </p:txBody>
      </p:sp>
      <p:sp>
        <p:nvSpPr>
          <p:cNvPr id="4" name="Slide Number Placeholder 3">
            <a:extLst>
              <a:ext uri="{FF2B5EF4-FFF2-40B4-BE49-F238E27FC236}">
                <a16:creationId xmlns:a16="http://schemas.microsoft.com/office/drawing/2014/main" id="{BBACE2A9-0834-ABEB-9B4B-65B0590354E6}"/>
              </a:ext>
            </a:extLst>
          </p:cNvPr>
          <p:cNvSpPr>
            <a:spLocks noGrp="1"/>
          </p:cNvSpPr>
          <p:nvPr>
            <p:ph type="sldNum" sz="quarter" idx="5"/>
          </p:nvPr>
        </p:nvSpPr>
        <p:spPr/>
        <p:txBody>
          <a:bodyPr/>
          <a:lstStyle/>
          <a:p>
            <a:fld id="{0CE82076-DA9B-4950-AF94-173B4F7BAA45}" type="slidenum">
              <a:rPr lang="en-US" smtClean="0"/>
              <a:t>27</a:t>
            </a:fld>
            <a:endParaRPr lang="en-US"/>
          </a:p>
        </p:txBody>
      </p:sp>
    </p:spTree>
    <p:extLst>
      <p:ext uri="{BB962C8B-B14F-4D97-AF65-F5344CB8AC3E}">
        <p14:creationId xmlns:p14="http://schemas.microsoft.com/office/powerpoint/2010/main" val="2895976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6B386-6D03-F35F-014C-07A5F601F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470B0-6B18-9A11-22A8-81DD1CCA5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C88EB-EDA0-812D-C33D-843873B5DB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D67BC48-29DF-308E-815F-F304D4962793}"/>
              </a:ext>
            </a:extLst>
          </p:cNvPr>
          <p:cNvSpPr>
            <a:spLocks noGrp="1"/>
          </p:cNvSpPr>
          <p:nvPr>
            <p:ph type="sldNum" sz="quarter" idx="5"/>
          </p:nvPr>
        </p:nvSpPr>
        <p:spPr/>
        <p:txBody>
          <a:bodyPr/>
          <a:lstStyle/>
          <a:p>
            <a:fld id="{0CE82076-DA9B-4950-AF94-173B4F7BAA45}" type="slidenum">
              <a:rPr lang="en-US" smtClean="0"/>
              <a:t>28</a:t>
            </a:fld>
            <a:endParaRPr lang="en-US"/>
          </a:p>
        </p:txBody>
      </p:sp>
    </p:spTree>
    <p:extLst>
      <p:ext uri="{BB962C8B-B14F-4D97-AF65-F5344CB8AC3E}">
        <p14:creationId xmlns:p14="http://schemas.microsoft.com/office/powerpoint/2010/main" val="944723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2FEC0-8944-32D9-8117-133C14BE6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0A04B-07F6-15D5-C925-904A3E129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037BB-EA73-6CCD-3814-9EE7279DA5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Within a block, it follows left to right order.</a:t>
            </a:r>
          </a:p>
        </p:txBody>
      </p:sp>
      <p:sp>
        <p:nvSpPr>
          <p:cNvPr id="4" name="Slide Number Placeholder 3">
            <a:extLst>
              <a:ext uri="{FF2B5EF4-FFF2-40B4-BE49-F238E27FC236}">
                <a16:creationId xmlns:a16="http://schemas.microsoft.com/office/drawing/2014/main" id="{D503FD07-DFC3-F7CB-5CC8-ADA5A26D1527}"/>
              </a:ext>
            </a:extLst>
          </p:cNvPr>
          <p:cNvSpPr>
            <a:spLocks noGrp="1"/>
          </p:cNvSpPr>
          <p:nvPr>
            <p:ph type="sldNum" sz="quarter" idx="5"/>
          </p:nvPr>
        </p:nvSpPr>
        <p:spPr/>
        <p:txBody>
          <a:bodyPr/>
          <a:lstStyle/>
          <a:p>
            <a:fld id="{0CE82076-DA9B-4950-AF94-173B4F7BAA45}" type="slidenum">
              <a:rPr lang="en-US" smtClean="0"/>
              <a:t>29</a:t>
            </a:fld>
            <a:endParaRPr lang="en-US"/>
          </a:p>
        </p:txBody>
      </p:sp>
    </p:spTree>
    <p:extLst>
      <p:ext uri="{BB962C8B-B14F-4D97-AF65-F5344CB8AC3E}">
        <p14:creationId xmlns:p14="http://schemas.microsoft.com/office/powerpoint/2010/main" val="2351665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F2893-9580-DA83-8B3C-53D3B296D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EB99E-6623-0237-458E-3AAB4A91D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76A8D-6A5E-47CB-3AE0-FA5EDD5EC1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FA7D5D2-9E50-5159-4B11-8730A7EC79A9}"/>
              </a:ext>
            </a:extLst>
          </p:cNvPr>
          <p:cNvSpPr>
            <a:spLocks noGrp="1"/>
          </p:cNvSpPr>
          <p:nvPr>
            <p:ph type="sldNum" sz="quarter" idx="5"/>
          </p:nvPr>
        </p:nvSpPr>
        <p:spPr/>
        <p:txBody>
          <a:bodyPr/>
          <a:lstStyle/>
          <a:p>
            <a:fld id="{0CE82076-DA9B-4950-AF94-173B4F7BAA45}" type="slidenum">
              <a:rPr lang="en-US" smtClean="0"/>
              <a:t>30</a:t>
            </a:fld>
            <a:endParaRPr lang="en-US"/>
          </a:p>
        </p:txBody>
      </p:sp>
    </p:spTree>
    <p:extLst>
      <p:ext uri="{BB962C8B-B14F-4D97-AF65-F5344CB8AC3E}">
        <p14:creationId xmlns:p14="http://schemas.microsoft.com/office/powerpoint/2010/main" val="4004951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C0414-B3C4-7607-DB3A-39DD86F69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1CEE0-C92C-5FD8-D992-748D35F1C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986AB-D2FE-5F1B-C055-9DAE4B29C0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Originally consecutive. Now does not seem to follow the order. Similar as paging in OS. TLB. Translation lookaside buffer. Virtual to physical mapping.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each request. Still see logical blocks in consecutive space. Physical block may be out of </a:t>
            </a:r>
            <a:r>
              <a:rPr lang="en-US" dirty="0" err="1"/>
              <a:t>oder</a:t>
            </a:r>
            <a:r>
              <a:rPr lang="en-US" dirty="0"/>
              <a:t>. Or even on GPU or CPU. Mapping of virtual block to physical block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Paging. Virtual page to physical page mapping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From attention calculation. Everything is consecutive. Logical </a:t>
            </a:r>
            <a:r>
              <a:rPr lang="en-US" dirty="0" err="1"/>
              <a:t>kv</a:t>
            </a:r>
            <a:r>
              <a:rPr lang="en-US" dirty="0"/>
              <a:t> block, but just the metadata, which request </a:t>
            </a:r>
            <a:r>
              <a:rPr lang="en-US" dirty="0" err="1"/>
              <a:t>kv</a:t>
            </a:r>
            <a:r>
              <a:rPr lang="en-US" dirty="0"/>
              <a:t> blocks belong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 1, 3, each correspond to </a:t>
            </a:r>
          </a:p>
        </p:txBody>
      </p:sp>
      <p:sp>
        <p:nvSpPr>
          <p:cNvPr id="4" name="Slide Number Placeholder 3">
            <a:extLst>
              <a:ext uri="{FF2B5EF4-FFF2-40B4-BE49-F238E27FC236}">
                <a16:creationId xmlns:a16="http://schemas.microsoft.com/office/drawing/2014/main" id="{3637148E-139D-6D99-5DE5-BD58C4494C66}"/>
              </a:ext>
            </a:extLst>
          </p:cNvPr>
          <p:cNvSpPr>
            <a:spLocks noGrp="1"/>
          </p:cNvSpPr>
          <p:nvPr>
            <p:ph type="sldNum" sz="quarter" idx="5"/>
          </p:nvPr>
        </p:nvSpPr>
        <p:spPr/>
        <p:txBody>
          <a:bodyPr/>
          <a:lstStyle/>
          <a:p>
            <a:fld id="{0CE82076-DA9B-4950-AF94-173B4F7BAA45}" type="slidenum">
              <a:rPr lang="en-US" smtClean="0"/>
              <a:t>31</a:t>
            </a:fld>
            <a:endParaRPr lang="en-US"/>
          </a:p>
        </p:txBody>
      </p:sp>
    </p:spTree>
    <p:extLst>
      <p:ext uri="{BB962C8B-B14F-4D97-AF65-F5344CB8AC3E}">
        <p14:creationId xmlns:p14="http://schemas.microsoft.com/office/powerpoint/2010/main" val="756421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A62DC-9686-67ED-6DDB-998AF78E1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9D583-096E-A8C3-C3C1-C73728377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FB6DE-42C6-35BB-7027-6C4CFD7EA7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Minimal internal frag. Only the last block may not be fully filled.</a:t>
            </a:r>
          </a:p>
        </p:txBody>
      </p:sp>
      <p:sp>
        <p:nvSpPr>
          <p:cNvPr id="4" name="Slide Number Placeholder 3">
            <a:extLst>
              <a:ext uri="{FF2B5EF4-FFF2-40B4-BE49-F238E27FC236}">
                <a16:creationId xmlns:a16="http://schemas.microsoft.com/office/drawing/2014/main" id="{84C95E79-FBD0-E06F-B586-F909D6FA8303}"/>
              </a:ext>
            </a:extLst>
          </p:cNvPr>
          <p:cNvSpPr>
            <a:spLocks noGrp="1"/>
          </p:cNvSpPr>
          <p:nvPr>
            <p:ph type="sldNum" sz="quarter" idx="5"/>
          </p:nvPr>
        </p:nvSpPr>
        <p:spPr/>
        <p:txBody>
          <a:bodyPr/>
          <a:lstStyle/>
          <a:p>
            <a:fld id="{0CE82076-DA9B-4950-AF94-173B4F7BAA45}" type="slidenum">
              <a:rPr lang="en-US" smtClean="0"/>
              <a:t>32</a:t>
            </a:fld>
            <a:endParaRPr lang="en-US"/>
          </a:p>
        </p:txBody>
      </p:sp>
    </p:spTree>
    <p:extLst>
      <p:ext uri="{BB962C8B-B14F-4D97-AF65-F5344CB8AC3E}">
        <p14:creationId xmlns:p14="http://schemas.microsoft.com/office/powerpoint/2010/main" val="2862289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E692F-1554-787C-E8EE-FD8E1749D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FCC9E-3AC5-9070-81AC-284FA0235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51A82-6511-A2C9-65B6-D5665907A0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Largely eliminate external frag.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Very fine-grained, easy to be </a:t>
            </a:r>
            <a:r>
              <a:rPr lang="en-US" dirty="0" err="1"/>
              <a:t>satifised</a:t>
            </a:r>
            <a:r>
              <a:rPr lang="en-US" dirty="0"/>
              <a:t> by </a:t>
            </a:r>
            <a:r>
              <a:rPr lang="en-US" dirty="0" err="1"/>
              <a:t>Gpu</a:t>
            </a:r>
            <a:r>
              <a:rPr lang="en-US" dirty="0"/>
              <a:t> allocation.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a result, wasted </a:t>
            </a:r>
            <a:r>
              <a:rPr lang="en-US" dirty="0" err="1"/>
              <a:t>kv</a:t>
            </a:r>
            <a:r>
              <a:rPr lang="en-US" dirty="0"/>
              <a:t> cache space is &lt;4%. Improved </a:t>
            </a:r>
            <a:r>
              <a:rPr lang="en-US" dirty="0" err="1"/>
              <a:t>Gpu</a:t>
            </a:r>
            <a:r>
              <a:rPr lang="en-US" dirty="0"/>
              <a:t> utilization.</a:t>
            </a:r>
          </a:p>
        </p:txBody>
      </p:sp>
      <p:sp>
        <p:nvSpPr>
          <p:cNvPr id="4" name="Slide Number Placeholder 3">
            <a:extLst>
              <a:ext uri="{FF2B5EF4-FFF2-40B4-BE49-F238E27FC236}">
                <a16:creationId xmlns:a16="http://schemas.microsoft.com/office/drawing/2014/main" id="{9C0E639B-1270-62EE-D500-B77B5B6F638F}"/>
              </a:ext>
            </a:extLst>
          </p:cNvPr>
          <p:cNvSpPr>
            <a:spLocks noGrp="1"/>
          </p:cNvSpPr>
          <p:nvPr>
            <p:ph type="sldNum" sz="quarter" idx="5"/>
          </p:nvPr>
        </p:nvSpPr>
        <p:spPr/>
        <p:txBody>
          <a:bodyPr/>
          <a:lstStyle/>
          <a:p>
            <a:fld id="{0CE82076-DA9B-4950-AF94-173B4F7BAA45}" type="slidenum">
              <a:rPr lang="en-US" smtClean="0"/>
              <a:t>33</a:t>
            </a:fld>
            <a:endParaRPr lang="en-US"/>
          </a:p>
        </p:txBody>
      </p:sp>
    </p:spTree>
    <p:extLst>
      <p:ext uri="{BB962C8B-B14F-4D97-AF65-F5344CB8AC3E}">
        <p14:creationId xmlns:p14="http://schemas.microsoft.com/office/powerpoint/2010/main" val="591964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F9FD-08C7-E531-5D6E-C0ABC1BD1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8AAC3-414E-CFAB-3FCE-7A43DC497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960B6-013C-4256-48CA-7E234C95D3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models, two datasets. High request rage same latency. Same arrival rate, lower latency. With CB enabled. More request processed in a given time frame.</a:t>
            </a:r>
          </a:p>
        </p:txBody>
      </p:sp>
      <p:sp>
        <p:nvSpPr>
          <p:cNvPr id="4" name="Slide Number Placeholder 3">
            <a:extLst>
              <a:ext uri="{FF2B5EF4-FFF2-40B4-BE49-F238E27FC236}">
                <a16:creationId xmlns:a16="http://schemas.microsoft.com/office/drawing/2014/main" id="{73BA34BB-14CE-C4BD-6E4F-013228EDE514}"/>
              </a:ext>
            </a:extLst>
          </p:cNvPr>
          <p:cNvSpPr>
            <a:spLocks noGrp="1"/>
          </p:cNvSpPr>
          <p:nvPr>
            <p:ph type="sldNum" sz="quarter" idx="5"/>
          </p:nvPr>
        </p:nvSpPr>
        <p:spPr/>
        <p:txBody>
          <a:bodyPr/>
          <a:lstStyle/>
          <a:p>
            <a:fld id="{0CE82076-DA9B-4950-AF94-173B4F7BAA45}" type="slidenum">
              <a:rPr lang="en-US" smtClean="0"/>
              <a:t>34</a:t>
            </a:fld>
            <a:endParaRPr lang="en-US"/>
          </a:p>
        </p:txBody>
      </p:sp>
    </p:spTree>
    <p:extLst>
      <p:ext uri="{BB962C8B-B14F-4D97-AF65-F5344CB8AC3E}">
        <p14:creationId xmlns:p14="http://schemas.microsoft.com/office/powerpoint/2010/main" val="10139660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52B9-69C1-B345-F0F7-04E1B7E99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01E45-E70B-0499-E42D-AA3244E54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81905-21F3-DD81-67B6-63AD4DC618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Flexible handling multiple request. A block manager </a:t>
            </a:r>
            <a:r>
              <a:rPr lang="en-US"/>
              <a:t>maps requests to blocks.</a:t>
            </a:r>
            <a:endParaRPr lang="en-US" dirty="0"/>
          </a:p>
        </p:txBody>
      </p:sp>
      <p:sp>
        <p:nvSpPr>
          <p:cNvPr id="4" name="Slide Number Placeholder 3">
            <a:extLst>
              <a:ext uri="{FF2B5EF4-FFF2-40B4-BE49-F238E27FC236}">
                <a16:creationId xmlns:a16="http://schemas.microsoft.com/office/drawing/2014/main" id="{A0C8E764-EE27-7926-7EF0-8D6BF80D33BA}"/>
              </a:ext>
            </a:extLst>
          </p:cNvPr>
          <p:cNvSpPr>
            <a:spLocks noGrp="1"/>
          </p:cNvSpPr>
          <p:nvPr>
            <p:ph type="sldNum" sz="quarter" idx="5"/>
          </p:nvPr>
        </p:nvSpPr>
        <p:spPr/>
        <p:txBody>
          <a:bodyPr/>
          <a:lstStyle/>
          <a:p>
            <a:fld id="{0CE82076-DA9B-4950-AF94-173B4F7BAA45}" type="slidenum">
              <a:rPr lang="en-US" smtClean="0"/>
              <a:t>35</a:t>
            </a:fld>
            <a:endParaRPr lang="en-US"/>
          </a:p>
        </p:txBody>
      </p:sp>
    </p:spTree>
    <p:extLst>
      <p:ext uri="{BB962C8B-B14F-4D97-AF65-F5344CB8AC3E}">
        <p14:creationId xmlns:p14="http://schemas.microsoft.com/office/powerpoint/2010/main" val="27103439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DB21-0E94-ABCE-0F2D-B649022EC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0244F-82E0-D9FE-7BE5-F03DD3F50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FD79D-20FF-89A0-2F32-6508C1D23A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62A2E3F-0F0B-DD38-2B68-678BAB346391}"/>
              </a:ext>
            </a:extLst>
          </p:cNvPr>
          <p:cNvSpPr>
            <a:spLocks noGrp="1"/>
          </p:cNvSpPr>
          <p:nvPr>
            <p:ph type="sldNum" sz="quarter" idx="5"/>
          </p:nvPr>
        </p:nvSpPr>
        <p:spPr/>
        <p:txBody>
          <a:bodyPr/>
          <a:lstStyle/>
          <a:p>
            <a:fld id="{0CE82076-DA9B-4950-AF94-173B4F7BAA45}" type="slidenum">
              <a:rPr lang="en-US" smtClean="0"/>
              <a:t>36</a:t>
            </a:fld>
            <a:endParaRPr lang="en-US"/>
          </a:p>
        </p:txBody>
      </p:sp>
    </p:spTree>
    <p:extLst>
      <p:ext uri="{BB962C8B-B14F-4D97-AF65-F5344CB8AC3E}">
        <p14:creationId xmlns:p14="http://schemas.microsoft.com/office/powerpoint/2010/main" val="4311456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6C490-70C9-DFD5-EDFF-B0045FF22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AE168-01FA-E2BF-ED5C-206A472AB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87592-8CB9-D942-858C-6E4C9030F5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1C813E1-4117-10A6-7480-C18459B2CE10}"/>
              </a:ext>
            </a:extLst>
          </p:cNvPr>
          <p:cNvSpPr>
            <a:spLocks noGrp="1"/>
          </p:cNvSpPr>
          <p:nvPr>
            <p:ph type="sldNum" sz="quarter" idx="5"/>
          </p:nvPr>
        </p:nvSpPr>
        <p:spPr/>
        <p:txBody>
          <a:bodyPr/>
          <a:lstStyle/>
          <a:p>
            <a:fld id="{0CE82076-DA9B-4950-AF94-173B4F7BAA45}" type="slidenum">
              <a:rPr lang="en-US" smtClean="0"/>
              <a:t>37</a:t>
            </a:fld>
            <a:endParaRPr lang="en-US"/>
          </a:p>
        </p:txBody>
      </p:sp>
    </p:spTree>
    <p:extLst>
      <p:ext uri="{BB962C8B-B14F-4D97-AF65-F5344CB8AC3E}">
        <p14:creationId xmlns:p14="http://schemas.microsoft.com/office/powerpoint/2010/main" val="738554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AC7E3-9E8C-25CF-E1F4-059606022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4D14A-6E2D-ECA0-CBF7-4EF2CB1E0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7BFDC-EF21-3ACB-3ECE-B14772A5B3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F09E378-5944-28E2-4FF5-ECC2ECC8670F}"/>
              </a:ext>
            </a:extLst>
          </p:cNvPr>
          <p:cNvSpPr>
            <a:spLocks noGrp="1"/>
          </p:cNvSpPr>
          <p:nvPr>
            <p:ph type="sldNum" sz="quarter" idx="5"/>
          </p:nvPr>
        </p:nvSpPr>
        <p:spPr/>
        <p:txBody>
          <a:bodyPr/>
          <a:lstStyle/>
          <a:p>
            <a:fld id="{0CE82076-DA9B-4950-AF94-173B4F7BAA45}" type="slidenum">
              <a:rPr lang="en-US" smtClean="0"/>
              <a:t>38</a:t>
            </a:fld>
            <a:endParaRPr lang="en-US"/>
          </a:p>
        </p:txBody>
      </p:sp>
    </p:spTree>
    <p:extLst>
      <p:ext uri="{BB962C8B-B14F-4D97-AF65-F5344CB8AC3E}">
        <p14:creationId xmlns:p14="http://schemas.microsoft.com/office/powerpoint/2010/main" val="9104398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EC6AF-5111-42ED-1D18-9FED0FB1E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E259C-1949-CB1E-33CD-73B721F59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7A9EC-3FCA-AF7A-4B7D-2E1075F446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7739392-D62C-359C-D296-B0E91832DCC6}"/>
              </a:ext>
            </a:extLst>
          </p:cNvPr>
          <p:cNvSpPr>
            <a:spLocks noGrp="1"/>
          </p:cNvSpPr>
          <p:nvPr>
            <p:ph type="sldNum" sz="quarter" idx="5"/>
          </p:nvPr>
        </p:nvSpPr>
        <p:spPr/>
        <p:txBody>
          <a:bodyPr/>
          <a:lstStyle/>
          <a:p>
            <a:fld id="{0CE82076-DA9B-4950-AF94-173B4F7BAA45}" type="slidenum">
              <a:rPr lang="en-US" smtClean="0"/>
              <a:t>39</a:t>
            </a:fld>
            <a:endParaRPr lang="en-US"/>
          </a:p>
        </p:txBody>
      </p:sp>
    </p:spTree>
    <p:extLst>
      <p:ext uri="{BB962C8B-B14F-4D97-AF65-F5344CB8AC3E}">
        <p14:creationId xmlns:p14="http://schemas.microsoft.com/office/powerpoint/2010/main" val="33214929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E1F8A-F407-9FB3-926F-E45DAC864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1C37C-5740-7713-A14A-07BDAB9BF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4686B-D3B4-A076-BBBA-7CACDE67F0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C9F7EDD-F57B-96F2-60B6-6C08B84C603F}"/>
              </a:ext>
            </a:extLst>
          </p:cNvPr>
          <p:cNvSpPr>
            <a:spLocks noGrp="1"/>
          </p:cNvSpPr>
          <p:nvPr>
            <p:ph type="sldNum" sz="quarter" idx="5"/>
          </p:nvPr>
        </p:nvSpPr>
        <p:spPr/>
        <p:txBody>
          <a:bodyPr/>
          <a:lstStyle/>
          <a:p>
            <a:fld id="{0CE82076-DA9B-4950-AF94-173B4F7BAA45}" type="slidenum">
              <a:rPr lang="en-US" smtClean="0"/>
              <a:t>40</a:t>
            </a:fld>
            <a:endParaRPr lang="en-US"/>
          </a:p>
        </p:txBody>
      </p:sp>
    </p:spTree>
    <p:extLst>
      <p:ext uri="{BB962C8B-B14F-4D97-AF65-F5344CB8AC3E}">
        <p14:creationId xmlns:p14="http://schemas.microsoft.com/office/powerpoint/2010/main" val="15263469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03005-3BB9-891B-1CF4-8BE97E979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E9C63-DF9B-036E-021E-5924D98C8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0F58A-CC1D-6AFE-3F75-0BC97C7155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65C4464-AE42-C2CC-BD30-FBD14B78F160}"/>
              </a:ext>
            </a:extLst>
          </p:cNvPr>
          <p:cNvSpPr>
            <a:spLocks noGrp="1"/>
          </p:cNvSpPr>
          <p:nvPr>
            <p:ph type="sldNum" sz="quarter" idx="5"/>
          </p:nvPr>
        </p:nvSpPr>
        <p:spPr/>
        <p:txBody>
          <a:bodyPr/>
          <a:lstStyle/>
          <a:p>
            <a:fld id="{0CE82076-DA9B-4950-AF94-173B4F7BAA45}" type="slidenum">
              <a:rPr lang="en-US" smtClean="0"/>
              <a:t>41</a:t>
            </a:fld>
            <a:endParaRPr lang="en-US"/>
          </a:p>
        </p:txBody>
      </p:sp>
    </p:spTree>
    <p:extLst>
      <p:ext uri="{BB962C8B-B14F-4D97-AF65-F5344CB8AC3E}">
        <p14:creationId xmlns:p14="http://schemas.microsoft.com/office/powerpoint/2010/main" val="28850497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DE46-7B3C-7F0C-3841-BF75C072F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9265A-9F2F-1093-721E-6455FE10C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F8D7D-D092-3D97-F8A1-B094C680E3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BDB4215-30D3-BCBC-2547-FEC28E408AAE}"/>
              </a:ext>
            </a:extLst>
          </p:cNvPr>
          <p:cNvSpPr>
            <a:spLocks noGrp="1"/>
          </p:cNvSpPr>
          <p:nvPr>
            <p:ph type="sldNum" sz="quarter" idx="5"/>
          </p:nvPr>
        </p:nvSpPr>
        <p:spPr/>
        <p:txBody>
          <a:bodyPr/>
          <a:lstStyle/>
          <a:p>
            <a:fld id="{0CE82076-DA9B-4950-AF94-173B4F7BAA45}" type="slidenum">
              <a:rPr lang="en-US" smtClean="0"/>
              <a:t>42</a:t>
            </a:fld>
            <a:endParaRPr lang="en-US"/>
          </a:p>
        </p:txBody>
      </p:sp>
    </p:spTree>
    <p:extLst>
      <p:ext uri="{BB962C8B-B14F-4D97-AF65-F5344CB8AC3E}">
        <p14:creationId xmlns:p14="http://schemas.microsoft.com/office/powerpoint/2010/main" val="19408167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40753-A132-AFF0-9717-DAB67E726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C2092-AFE4-21E8-2477-12FC1A1CD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1557F-8FD6-7899-CD17-A12C31341C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C1E2721-F2E8-C36C-F0D9-6DA9D8C30B26}"/>
              </a:ext>
            </a:extLst>
          </p:cNvPr>
          <p:cNvSpPr>
            <a:spLocks noGrp="1"/>
          </p:cNvSpPr>
          <p:nvPr>
            <p:ph type="sldNum" sz="quarter" idx="5"/>
          </p:nvPr>
        </p:nvSpPr>
        <p:spPr/>
        <p:txBody>
          <a:bodyPr/>
          <a:lstStyle/>
          <a:p>
            <a:fld id="{0CE82076-DA9B-4950-AF94-173B4F7BAA45}" type="slidenum">
              <a:rPr lang="en-US" smtClean="0"/>
              <a:t>43</a:t>
            </a:fld>
            <a:endParaRPr lang="en-US"/>
          </a:p>
        </p:txBody>
      </p:sp>
    </p:spTree>
    <p:extLst>
      <p:ext uri="{BB962C8B-B14F-4D97-AF65-F5344CB8AC3E}">
        <p14:creationId xmlns:p14="http://schemas.microsoft.com/office/powerpoint/2010/main" val="15337036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88E5B-F5B1-3805-4ED9-70DD806EE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A9637-1631-9808-16E2-4BB5BE94D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9AA58-7090-AEC2-8E01-29060A7ED1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BB89EE1-F002-1607-B10D-0D4162FAB84F}"/>
              </a:ext>
            </a:extLst>
          </p:cNvPr>
          <p:cNvSpPr>
            <a:spLocks noGrp="1"/>
          </p:cNvSpPr>
          <p:nvPr>
            <p:ph type="sldNum" sz="quarter" idx="5"/>
          </p:nvPr>
        </p:nvSpPr>
        <p:spPr/>
        <p:txBody>
          <a:bodyPr/>
          <a:lstStyle/>
          <a:p>
            <a:fld id="{0CE82076-DA9B-4950-AF94-173B4F7BAA45}" type="slidenum">
              <a:rPr lang="en-US" smtClean="0"/>
              <a:t>44</a:t>
            </a:fld>
            <a:endParaRPr lang="en-US"/>
          </a:p>
        </p:txBody>
      </p:sp>
    </p:spTree>
    <p:extLst>
      <p:ext uri="{BB962C8B-B14F-4D97-AF65-F5344CB8AC3E}">
        <p14:creationId xmlns:p14="http://schemas.microsoft.com/office/powerpoint/2010/main" val="38136766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514C5-2972-6634-6D5D-F9A0D4CC5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41506-285D-8975-0A25-13441369A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30F0E-D22F-62A2-B51D-1848D1A5CE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3EBECBE-8008-8764-0164-423B3A3F47D5}"/>
              </a:ext>
            </a:extLst>
          </p:cNvPr>
          <p:cNvSpPr>
            <a:spLocks noGrp="1"/>
          </p:cNvSpPr>
          <p:nvPr>
            <p:ph type="sldNum" sz="quarter" idx="5"/>
          </p:nvPr>
        </p:nvSpPr>
        <p:spPr/>
        <p:txBody>
          <a:bodyPr/>
          <a:lstStyle/>
          <a:p>
            <a:fld id="{0CE82076-DA9B-4950-AF94-173B4F7BAA45}" type="slidenum">
              <a:rPr lang="en-US" smtClean="0"/>
              <a:t>45</a:t>
            </a:fld>
            <a:endParaRPr lang="en-US"/>
          </a:p>
        </p:txBody>
      </p:sp>
    </p:spTree>
    <p:extLst>
      <p:ext uri="{BB962C8B-B14F-4D97-AF65-F5344CB8AC3E}">
        <p14:creationId xmlns:p14="http://schemas.microsoft.com/office/powerpoint/2010/main" val="1480870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04536-B672-DB99-8969-4E9D38BE9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6253E-5428-60E8-8C4C-12A36B90B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DF5A5-5E1A-3850-4B93-C070383748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0DFE0A3-7EA6-2617-1D06-B1C0A90F7B33}"/>
              </a:ext>
            </a:extLst>
          </p:cNvPr>
          <p:cNvSpPr>
            <a:spLocks noGrp="1"/>
          </p:cNvSpPr>
          <p:nvPr>
            <p:ph type="sldNum" sz="quarter" idx="5"/>
          </p:nvPr>
        </p:nvSpPr>
        <p:spPr/>
        <p:txBody>
          <a:bodyPr/>
          <a:lstStyle/>
          <a:p>
            <a:fld id="{0CE82076-DA9B-4950-AF94-173B4F7BAA45}" type="slidenum">
              <a:rPr lang="en-US" smtClean="0"/>
              <a:t>46</a:t>
            </a:fld>
            <a:endParaRPr lang="en-US"/>
          </a:p>
        </p:txBody>
      </p:sp>
    </p:spTree>
    <p:extLst>
      <p:ext uri="{BB962C8B-B14F-4D97-AF65-F5344CB8AC3E}">
        <p14:creationId xmlns:p14="http://schemas.microsoft.com/office/powerpoint/2010/main" val="40887022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C7566-D522-BEB0-FB04-55774AD18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F5242-2218-DCAD-F4EA-59C2D6E5C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6F181-2BB6-43F1-16D2-AD2A39F772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45E626A-676D-9CB0-22A7-B534F9D5F041}"/>
              </a:ext>
            </a:extLst>
          </p:cNvPr>
          <p:cNvSpPr>
            <a:spLocks noGrp="1"/>
          </p:cNvSpPr>
          <p:nvPr>
            <p:ph type="sldNum" sz="quarter" idx="5"/>
          </p:nvPr>
        </p:nvSpPr>
        <p:spPr/>
        <p:txBody>
          <a:bodyPr/>
          <a:lstStyle/>
          <a:p>
            <a:fld id="{0CE82076-DA9B-4950-AF94-173B4F7BAA45}" type="slidenum">
              <a:rPr lang="en-US" smtClean="0"/>
              <a:t>47</a:t>
            </a:fld>
            <a:endParaRPr lang="en-US"/>
          </a:p>
        </p:txBody>
      </p:sp>
    </p:spTree>
    <p:extLst>
      <p:ext uri="{BB962C8B-B14F-4D97-AF65-F5344CB8AC3E}">
        <p14:creationId xmlns:p14="http://schemas.microsoft.com/office/powerpoint/2010/main" val="8451448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CAB939A6-DAEC-1A33-173E-D9769F2CD80F}"/>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4DE2FDDA-1957-C6B0-A283-5C3B47DC6F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DEF47030-4533-F093-4309-E2279480AC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212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CC8A9A-DCC9-6A44-D781-22610786421D}"/>
              </a:ext>
            </a:extLst>
          </p:cNvPr>
          <p:cNvSpPr>
            <a:spLocks noGrp="1"/>
          </p:cNvSpPr>
          <p:nvPr>
            <p:ph type="dt" sz="half" idx="10"/>
          </p:nvPr>
        </p:nvSpPr>
        <p:spPr/>
        <p:txBody>
          <a:bodyPr/>
          <a:lstStyle>
            <a:lvl1pPr>
              <a:defRPr/>
            </a:lvl1pPr>
          </a:lstStyle>
          <a:p>
            <a:fld id="{A767C106-3865-4D0D-9DDB-4193C2BE0784}" type="datetime1">
              <a:rPr lang="en-US" smtClean="0"/>
              <a:t>4/13/2026</a:t>
            </a:fld>
            <a:endParaRPr lang="en-US"/>
          </a:p>
        </p:txBody>
      </p:sp>
      <p:sp>
        <p:nvSpPr>
          <p:cNvPr id="5" name="Footer Placeholder 4">
            <a:extLst>
              <a:ext uri="{FF2B5EF4-FFF2-40B4-BE49-F238E27FC236}">
                <a16:creationId xmlns:a16="http://schemas.microsoft.com/office/drawing/2014/main" id="{DF91A9B2-97BF-5FD5-6BCF-FF768A4659CE}"/>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6242EF56-68F4-CEBF-A5E9-0C2929C89F77}"/>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177684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24B3B9-F676-1C8D-A143-54263E59B091}"/>
              </a:ext>
            </a:extLst>
          </p:cNvPr>
          <p:cNvSpPr>
            <a:spLocks noGrp="1"/>
          </p:cNvSpPr>
          <p:nvPr>
            <p:ph type="dt" sz="half" idx="10"/>
          </p:nvPr>
        </p:nvSpPr>
        <p:spPr/>
        <p:txBody>
          <a:bodyPr/>
          <a:lstStyle>
            <a:lvl1pPr>
              <a:defRPr/>
            </a:lvl1pPr>
          </a:lstStyle>
          <a:p>
            <a:fld id="{F52C044C-8FC7-434B-93F9-E5A8C0ACC3AF}" type="datetime1">
              <a:rPr lang="en-US" smtClean="0"/>
              <a:t>4/13/2026</a:t>
            </a:fld>
            <a:endParaRPr lang="en-US"/>
          </a:p>
        </p:txBody>
      </p:sp>
      <p:sp>
        <p:nvSpPr>
          <p:cNvPr id="5" name="Footer Placeholder 4">
            <a:extLst>
              <a:ext uri="{FF2B5EF4-FFF2-40B4-BE49-F238E27FC236}">
                <a16:creationId xmlns:a16="http://schemas.microsoft.com/office/drawing/2014/main" id="{AA5C83F0-B8D9-8434-D711-FFE2397CBB86}"/>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D23F4419-F766-2C36-8BA3-D87E61C3F0A6}"/>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285494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2B28CB-7E13-8F07-561C-181F8EB65498}"/>
              </a:ext>
            </a:extLst>
          </p:cNvPr>
          <p:cNvSpPr>
            <a:spLocks noGrp="1"/>
          </p:cNvSpPr>
          <p:nvPr>
            <p:ph type="dt" sz="half" idx="10"/>
          </p:nvPr>
        </p:nvSpPr>
        <p:spPr/>
        <p:txBody>
          <a:bodyPr/>
          <a:lstStyle>
            <a:lvl1pPr>
              <a:defRPr/>
            </a:lvl1pPr>
          </a:lstStyle>
          <a:p>
            <a:fld id="{DBF78C28-27FC-4A03-978D-589F1535E726}" type="datetime1">
              <a:rPr lang="en-US" smtClean="0"/>
              <a:t>4/13/2026</a:t>
            </a:fld>
            <a:endParaRPr lang="en-US"/>
          </a:p>
        </p:txBody>
      </p:sp>
      <p:sp>
        <p:nvSpPr>
          <p:cNvPr id="5" name="Footer Placeholder 4">
            <a:extLst>
              <a:ext uri="{FF2B5EF4-FFF2-40B4-BE49-F238E27FC236}">
                <a16:creationId xmlns:a16="http://schemas.microsoft.com/office/drawing/2014/main" id="{7DC1D7D5-1A13-6FED-5B98-8EB2353CE1ED}"/>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7E735DD5-DAC7-AB1D-85B3-5CA6B7C8BB88}"/>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16231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9D05140-FDED-5875-CA5B-B3A7A7E3EE68}"/>
              </a:ext>
            </a:extLst>
          </p:cNvPr>
          <p:cNvSpPr>
            <a:spLocks noGrp="1"/>
          </p:cNvSpPr>
          <p:nvPr>
            <p:ph type="dt" sz="half" idx="10"/>
          </p:nvPr>
        </p:nvSpPr>
        <p:spPr/>
        <p:txBody>
          <a:bodyPr/>
          <a:lstStyle>
            <a:lvl1pPr>
              <a:defRPr/>
            </a:lvl1pPr>
          </a:lstStyle>
          <a:p>
            <a:fld id="{2BB5BF1E-56D5-4A79-AD82-A6D25FC69C41}" type="datetime1">
              <a:rPr lang="en-US" smtClean="0"/>
              <a:t>4/13/2026</a:t>
            </a:fld>
            <a:endParaRPr lang="en-US"/>
          </a:p>
        </p:txBody>
      </p:sp>
      <p:sp>
        <p:nvSpPr>
          <p:cNvPr id="6" name="Footer Placeholder 4">
            <a:extLst>
              <a:ext uri="{FF2B5EF4-FFF2-40B4-BE49-F238E27FC236}">
                <a16:creationId xmlns:a16="http://schemas.microsoft.com/office/drawing/2014/main" id="{0950AA4B-38C4-5D14-31FA-071795FA4A0B}"/>
              </a:ext>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16:creationId xmlns:a16="http://schemas.microsoft.com/office/drawing/2014/main" id="{63154ECA-F043-0A6A-C2EB-722880220D97}"/>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1993680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573CB92-02B2-3BAD-55B3-58A9B78131F4}"/>
              </a:ext>
            </a:extLst>
          </p:cNvPr>
          <p:cNvSpPr>
            <a:spLocks noGrp="1"/>
          </p:cNvSpPr>
          <p:nvPr>
            <p:ph type="dt" sz="half" idx="10"/>
          </p:nvPr>
        </p:nvSpPr>
        <p:spPr/>
        <p:txBody>
          <a:bodyPr/>
          <a:lstStyle>
            <a:lvl1pPr>
              <a:defRPr/>
            </a:lvl1pPr>
          </a:lstStyle>
          <a:p>
            <a:fld id="{92097FCD-A770-48E1-8DA9-3E249BD355C4}" type="datetime1">
              <a:rPr lang="en-US" smtClean="0"/>
              <a:t>4/13/2026</a:t>
            </a:fld>
            <a:endParaRPr lang="en-US"/>
          </a:p>
        </p:txBody>
      </p:sp>
      <p:sp>
        <p:nvSpPr>
          <p:cNvPr id="8" name="Footer Placeholder 4">
            <a:extLst>
              <a:ext uri="{FF2B5EF4-FFF2-40B4-BE49-F238E27FC236}">
                <a16:creationId xmlns:a16="http://schemas.microsoft.com/office/drawing/2014/main" id="{F8074EEC-5443-92C3-7073-BC619DA4B26A}"/>
              </a:ext>
            </a:extLst>
          </p:cNvPr>
          <p:cNvSpPr>
            <a:spLocks noGrp="1"/>
          </p:cNvSpPr>
          <p:nvPr>
            <p:ph type="ftr" sz="quarter" idx="11"/>
          </p:nvPr>
        </p:nvSpPr>
        <p:spPr/>
        <p:txBody>
          <a:bodyPr/>
          <a:lstStyle>
            <a:lvl1pPr>
              <a:defRPr/>
            </a:lvl1pPr>
          </a:lstStyle>
          <a:p>
            <a:endParaRPr lang="en-US"/>
          </a:p>
        </p:txBody>
      </p:sp>
      <p:sp>
        <p:nvSpPr>
          <p:cNvPr id="9" name="Slide Number Placeholder 5">
            <a:extLst>
              <a:ext uri="{FF2B5EF4-FFF2-40B4-BE49-F238E27FC236}">
                <a16:creationId xmlns:a16="http://schemas.microsoft.com/office/drawing/2014/main" id="{85EEAA2F-5901-A45B-CC8A-454624252D79}"/>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3389798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D67AA7B-3D63-EEF2-0D2D-3BE240F6509D}"/>
              </a:ext>
            </a:extLst>
          </p:cNvPr>
          <p:cNvSpPr>
            <a:spLocks noGrp="1"/>
          </p:cNvSpPr>
          <p:nvPr>
            <p:ph type="dt" sz="half" idx="10"/>
          </p:nvPr>
        </p:nvSpPr>
        <p:spPr/>
        <p:txBody>
          <a:bodyPr/>
          <a:lstStyle>
            <a:lvl1pPr>
              <a:defRPr/>
            </a:lvl1pPr>
          </a:lstStyle>
          <a:p>
            <a:fld id="{55FB13FD-8C36-4556-9AAD-6489E96A03CC}" type="datetime1">
              <a:rPr lang="en-US" smtClean="0"/>
              <a:t>4/13/2026</a:t>
            </a:fld>
            <a:endParaRPr lang="en-US"/>
          </a:p>
        </p:txBody>
      </p:sp>
      <p:sp>
        <p:nvSpPr>
          <p:cNvPr id="4" name="Footer Placeholder 4">
            <a:extLst>
              <a:ext uri="{FF2B5EF4-FFF2-40B4-BE49-F238E27FC236}">
                <a16:creationId xmlns:a16="http://schemas.microsoft.com/office/drawing/2014/main" id="{9EB67FE9-B183-F9F7-888F-CBDE279F2959}"/>
              </a:ext>
            </a:extLst>
          </p:cNvPr>
          <p:cNvSpPr>
            <a:spLocks noGrp="1"/>
          </p:cNvSpPr>
          <p:nvPr>
            <p:ph type="ftr" sz="quarter" idx="11"/>
          </p:nvPr>
        </p:nvSpPr>
        <p:spPr/>
        <p:txBody>
          <a:bodyPr/>
          <a:lstStyle>
            <a:lvl1pPr>
              <a:defRPr/>
            </a:lvl1pPr>
          </a:lstStyle>
          <a:p>
            <a:endParaRPr lang="en-US"/>
          </a:p>
        </p:txBody>
      </p:sp>
      <p:sp>
        <p:nvSpPr>
          <p:cNvPr id="5" name="Slide Number Placeholder 5">
            <a:extLst>
              <a:ext uri="{FF2B5EF4-FFF2-40B4-BE49-F238E27FC236}">
                <a16:creationId xmlns:a16="http://schemas.microsoft.com/office/drawing/2014/main" id="{342AA2DC-7EFB-CA1C-9BED-5AC0254BC569}"/>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3243376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7767CA6-E77B-288E-F7D6-4A1F36C25121}"/>
              </a:ext>
            </a:extLst>
          </p:cNvPr>
          <p:cNvSpPr>
            <a:spLocks noGrp="1"/>
          </p:cNvSpPr>
          <p:nvPr>
            <p:ph type="dt" sz="half" idx="10"/>
          </p:nvPr>
        </p:nvSpPr>
        <p:spPr/>
        <p:txBody>
          <a:bodyPr/>
          <a:lstStyle>
            <a:lvl1pPr>
              <a:defRPr/>
            </a:lvl1pPr>
          </a:lstStyle>
          <a:p>
            <a:fld id="{BC9F1535-7F42-41A0-9E24-EADFC3868FD8}" type="datetime1">
              <a:rPr lang="en-US" smtClean="0"/>
              <a:t>4/13/2026</a:t>
            </a:fld>
            <a:endParaRPr lang="en-US"/>
          </a:p>
        </p:txBody>
      </p:sp>
      <p:sp>
        <p:nvSpPr>
          <p:cNvPr id="3" name="Footer Placeholder 4">
            <a:extLst>
              <a:ext uri="{FF2B5EF4-FFF2-40B4-BE49-F238E27FC236}">
                <a16:creationId xmlns:a16="http://schemas.microsoft.com/office/drawing/2014/main" id="{C1AA0F28-EFEF-D6D6-BC22-2CAD3CAAD48D}"/>
              </a:ext>
            </a:extLst>
          </p:cNvPr>
          <p:cNvSpPr>
            <a:spLocks noGrp="1"/>
          </p:cNvSpPr>
          <p:nvPr>
            <p:ph type="ftr" sz="quarter" idx="11"/>
          </p:nvPr>
        </p:nvSpPr>
        <p:spPr/>
        <p:txBody>
          <a:bodyPr/>
          <a:lstStyle>
            <a:lvl1pPr>
              <a:defRPr/>
            </a:lvl1pPr>
          </a:lstStyle>
          <a:p>
            <a:endParaRPr lang="en-US"/>
          </a:p>
        </p:txBody>
      </p:sp>
      <p:sp>
        <p:nvSpPr>
          <p:cNvPr id="4" name="Slide Number Placeholder 5">
            <a:extLst>
              <a:ext uri="{FF2B5EF4-FFF2-40B4-BE49-F238E27FC236}">
                <a16:creationId xmlns:a16="http://schemas.microsoft.com/office/drawing/2014/main" id="{C2223E26-E4DC-8483-F1B3-42FC7F861027}"/>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2877202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2FA719F-173D-D1BB-0395-35E1AB3A400F}"/>
              </a:ext>
            </a:extLst>
          </p:cNvPr>
          <p:cNvSpPr>
            <a:spLocks noGrp="1"/>
          </p:cNvSpPr>
          <p:nvPr>
            <p:ph type="dt" sz="half" idx="10"/>
          </p:nvPr>
        </p:nvSpPr>
        <p:spPr/>
        <p:txBody>
          <a:bodyPr/>
          <a:lstStyle>
            <a:lvl1pPr>
              <a:defRPr/>
            </a:lvl1pPr>
          </a:lstStyle>
          <a:p>
            <a:fld id="{E08D0FCE-4553-4918-9324-C539D62ADEB6}" type="datetime1">
              <a:rPr lang="en-US" smtClean="0"/>
              <a:t>4/13/2026</a:t>
            </a:fld>
            <a:endParaRPr lang="en-US"/>
          </a:p>
        </p:txBody>
      </p:sp>
      <p:sp>
        <p:nvSpPr>
          <p:cNvPr id="6" name="Footer Placeholder 4">
            <a:extLst>
              <a:ext uri="{FF2B5EF4-FFF2-40B4-BE49-F238E27FC236}">
                <a16:creationId xmlns:a16="http://schemas.microsoft.com/office/drawing/2014/main" id="{645F10B0-481B-7EA3-265D-F6156E01FB9D}"/>
              </a:ext>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16:creationId xmlns:a16="http://schemas.microsoft.com/office/drawing/2014/main" id="{C54DA82A-C054-1381-4FAE-B768FCA04C98}"/>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355035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BE88DD1E-B28D-B85E-7CCE-C90026F8E171}"/>
              </a:ext>
            </a:extLst>
          </p:cNvPr>
          <p:cNvSpPr>
            <a:spLocks noGrp="1"/>
          </p:cNvSpPr>
          <p:nvPr>
            <p:ph type="dt" sz="half" idx="10"/>
          </p:nvPr>
        </p:nvSpPr>
        <p:spPr/>
        <p:txBody>
          <a:bodyPr/>
          <a:lstStyle>
            <a:lvl1pPr>
              <a:defRPr/>
            </a:lvl1pPr>
          </a:lstStyle>
          <a:p>
            <a:fld id="{65917464-D287-42A9-B071-567A896F85CC}" type="datetime1">
              <a:rPr lang="en-US" smtClean="0"/>
              <a:t>4/13/2026</a:t>
            </a:fld>
            <a:endParaRPr lang="en-US"/>
          </a:p>
        </p:txBody>
      </p:sp>
      <p:sp>
        <p:nvSpPr>
          <p:cNvPr id="6" name="Footer Placeholder 4">
            <a:extLst>
              <a:ext uri="{FF2B5EF4-FFF2-40B4-BE49-F238E27FC236}">
                <a16:creationId xmlns:a16="http://schemas.microsoft.com/office/drawing/2014/main" id="{28759A36-798D-2DB5-572A-DA06C23E36F8}"/>
              </a:ext>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16:creationId xmlns:a16="http://schemas.microsoft.com/office/drawing/2014/main" id="{0ACA734B-D8B0-1300-0BBA-2A541A08924D}"/>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560306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70F74-2E8B-BAC7-E45F-DC804F0704B6}"/>
              </a:ext>
            </a:extLst>
          </p:cNvPr>
          <p:cNvSpPr>
            <a:spLocks noGrp="1"/>
          </p:cNvSpPr>
          <p:nvPr>
            <p:ph type="dt" sz="half" idx="10"/>
          </p:nvPr>
        </p:nvSpPr>
        <p:spPr/>
        <p:txBody>
          <a:bodyPr/>
          <a:lstStyle>
            <a:lvl1pPr>
              <a:defRPr/>
            </a:lvl1pPr>
          </a:lstStyle>
          <a:p>
            <a:fld id="{68D204E0-B904-48A0-91B5-2D81802FDD13}" type="datetime1">
              <a:rPr lang="en-US" smtClean="0"/>
              <a:t>4/13/2026</a:t>
            </a:fld>
            <a:endParaRPr lang="en-US"/>
          </a:p>
        </p:txBody>
      </p:sp>
      <p:sp>
        <p:nvSpPr>
          <p:cNvPr id="5" name="Footer Placeholder 4">
            <a:extLst>
              <a:ext uri="{FF2B5EF4-FFF2-40B4-BE49-F238E27FC236}">
                <a16:creationId xmlns:a16="http://schemas.microsoft.com/office/drawing/2014/main" id="{2219FBA6-0EA3-2A91-BCEB-03A6B8786C8D}"/>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C648D80C-B919-64A1-403C-7E0F277318A4}"/>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2341654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09717-7283-BE69-7CEE-135ADB451AE4}"/>
              </a:ext>
            </a:extLst>
          </p:cNvPr>
          <p:cNvSpPr>
            <a:spLocks noGrp="1"/>
          </p:cNvSpPr>
          <p:nvPr>
            <p:ph type="dt" sz="half" idx="10"/>
          </p:nvPr>
        </p:nvSpPr>
        <p:spPr/>
        <p:txBody>
          <a:bodyPr/>
          <a:lstStyle>
            <a:lvl1pPr>
              <a:defRPr/>
            </a:lvl1pPr>
          </a:lstStyle>
          <a:p>
            <a:fld id="{F6CACBAD-6F35-4F0A-977D-B242D31CCAEF}" type="datetime1">
              <a:rPr lang="en-US" smtClean="0"/>
              <a:t>4/13/2026</a:t>
            </a:fld>
            <a:endParaRPr lang="en-US"/>
          </a:p>
        </p:txBody>
      </p:sp>
      <p:sp>
        <p:nvSpPr>
          <p:cNvPr id="5" name="Footer Placeholder 4">
            <a:extLst>
              <a:ext uri="{FF2B5EF4-FFF2-40B4-BE49-F238E27FC236}">
                <a16:creationId xmlns:a16="http://schemas.microsoft.com/office/drawing/2014/main" id="{FB47B196-FA0D-BFBB-5DC8-F5B8BC2A03CE}"/>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DFAECAAB-245F-A0F6-9F91-6762C2657295}"/>
              </a:ext>
            </a:extLst>
          </p:cNvPr>
          <p:cNvSpPr>
            <a:spLocks noGrp="1"/>
          </p:cNvSpPr>
          <p:nvPr>
            <p:ph type="sldNum" sz="quarter" idx="12"/>
          </p:nvPr>
        </p:nvSpPr>
        <p:spPr/>
        <p:txBody>
          <a:bodyPr/>
          <a:lstStyle>
            <a:lvl1pPr>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1349988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1298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958E9C0-44DF-821B-0C48-7A8D03542C7E}"/>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F726085A-6F74-8330-5181-46003BCBB747}"/>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25ACDB8-009B-F017-697C-AC57C71389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08734B53-BDB4-424B-B201-AA0D8DB1E618}" type="datetime1">
              <a:rPr lang="en-US" smtClean="0"/>
              <a:t>4/13/2026</a:t>
            </a:fld>
            <a:endParaRPr lang="en-US"/>
          </a:p>
        </p:txBody>
      </p:sp>
      <p:sp>
        <p:nvSpPr>
          <p:cNvPr id="5" name="Footer Placeholder 4">
            <a:extLst>
              <a:ext uri="{FF2B5EF4-FFF2-40B4-BE49-F238E27FC236}">
                <a16:creationId xmlns:a16="http://schemas.microsoft.com/office/drawing/2014/main" id="{9BAF8095-D278-D43A-F177-F1B8AE5D39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82783FC-0D77-3A23-A838-E8E46B77E0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D8010B01-9828-43F1-AE47-DA7183CEE7B6}" type="slidenum">
              <a:rPr lang="en-US" smtClean="0"/>
              <a:t>‹#›</a:t>
            </a:fld>
            <a:endParaRPr lang="en-US"/>
          </a:p>
        </p:txBody>
      </p:sp>
    </p:spTree>
    <p:extLst>
      <p:ext uri="{BB962C8B-B14F-4D97-AF65-F5344CB8AC3E}">
        <p14:creationId xmlns:p14="http://schemas.microsoft.com/office/powerpoint/2010/main" val="34126102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94244" y="1625567"/>
            <a:ext cx="11360800" cy="2736800"/>
          </a:xfrm>
          <a:prstGeom prst="rect">
            <a:avLst/>
          </a:prstGeom>
        </p:spPr>
        <p:txBody>
          <a:bodyPr spcFirstLastPara="1" vert="horz" wrap="square" lIns="121900" tIns="121900" rIns="121900" bIns="121900" rtlCol="0" anchor="b" anchorCtr="0">
            <a:normAutofit/>
          </a:bodyPr>
          <a:lstStyle/>
          <a:p>
            <a:pPr>
              <a:spcBef>
                <a:spcPts val="0"/>
              </a:spcBef>
            </a:pPr>
            <a:r>
              <a:rPr lang="en"/>
              <a:t>Deepspeed - Alphafold3</a:t>
            </a:r>
            <a:endParaRPr/>
          </a:p>
          <a:p>
            <a:pPr>
              <a:spcBef>
                <a:spcPts val="0"/>
              </a:spcBef>
            </a:pPr>
            <a:r>
              <a:rPr lang="en" sz="4667"/>
              <a:t>–Minjia Zhang, Hoa La– </a:t>
            </a:r>
            <a:endParaRPr sz="4667"/>
          </a:p>
        </p:txBody>
      </p:sp>
      <p:pic>
        <p:nvPicPr>
          <p:cNvPr id="55" name="Google Shape;55;p13"/>
          <p:cNvPicPr preferRelativeResize="0"/>
          <p:nvPr/>
        </p:nvPicPr>
        <p:blipFill>
          <a:blip r:embed="rId3">
            <a:alphaModFix/>
          </a:blip>
          <a:stretch>
            <a:fillRect/>
          </a:stretch>
        </p:blipFill>
        <p:spPr>
          <a:xfrm>
            <a:off x="4944533" y="5242767"/>
            <a:ext cx="1151467" cy="1083733"/>
          </a:xfrm>
          <a:prstGeom prst="rect">
            <a:avLst/>
          </a:prstGeom>
          <a:noFill/>
          <a:ln>
            <a:noFill/>
          </a:ln>
        </p:spPr>
      </p:pic>
      <p:pic>
        <p:nvPicPr>
          <p:cNvPr id="56" name="Google Shape;56;p13"/>
          <p:cNvPicPr preferRelativeResize="0"/>
          <p:nvPr/>
        </p:nvPicPr>
        <p:blipFill>
          <a:blip r:embed="rId4">
            <a:alphaModFix/>
          </a:blip>
          <a:stretch>
            <a:fillRect/>
          </a:stretch>
        </p:blipFill>
        <p:spPr>
          <a:xfrm>
            <a:off x="0" y="12112"/>
            <a:ext cx="12192000" cy="6858000"/>
          </a:xfrm>
          <a:prstGeom prst="rect">
            <a:avLst/>
          </a:prstGeom>
          <a:noFill/>
          <a:ln>
            <a:noFill/>
          </a:ln>
        </p:spPr>
      </p:pic>
      <p:sp>
        <p:nvSpPr>
          <p:cNvPr id="57" name="Google Shape;57;p13"/>
          <p:cNvSpPr txBox="1"/>
          <p:nvPr/>
        </p:nvSpPr>
        <p:spPr>
          <a:xfrm>
            <a:off x="470914" y="1933000"/>
            <a:ext cx="11250171" cy="1496000"/>
          </a:xfrm>
          <a:prstGeom prst="rect">
            <a:avLst/>
          </a:prstGeom>
          <a:noFill/>
          <a:ln>
            <a:noFill/>
          </a:ln>
        </p:spPr>
        <p:txBody>
          <a:bodyPr spcFirstLastPara="1" wrap="square" lIns="121900" tIns="121900" rIns="121900" bIns="121900" anchor="t" anchorCtr="0">
            <a:noAutofit/>
          </a:bodyPr>
          <a:lstStyle/>
          <a:p>
            <a:pPr algn="ctr"/>
            <a:r>
              <a:rPr lang="en-US" sz="4000" b="1" dirty="0">
                <a:solidFill>
                  <a:schemeClr val="lt1"/>
                </a:solidFill>
              </a:rPr>
              <a:t>CS 498: Machine Learning System</a:t>
            </a:r>
          </a:p>
          <a:p>
            <a:pPr algn="ctr"/>
            <a:r>
              <a:rPr lang="en-US" sz="4000" b="1" dirty="0">
                <a:solidFill>
                  <a:schemeClr val="lt1"/>
                </a:solidFill>
              </a:rPr>
              <a:t>Spring 2026</a:t>
            </a:r>
          </a:p>
        </p:txBody>
      </p:sp>
      <p:sp>
        <p:nvSpPr>
          <p:cNvPr id="3" name="TextBox 2">
            <a:extLst>
              <a:ext uri="{FF2B5EF4-FFF2-40B4-BE49-F238E27FC236}">
                <a16:creationId xmlns:a16="http://schemas.microsoft.com/office/drawing/2014/main" id="{BF9B25F0-C738-AC6C-19BB-EE679F487AF4}"/>
              </a:ext>
            </a:extLst>
          </p:cNvPr>
          <p:cNvSpPr txBox="1"/>
          <p:nvPr/>
        </p:nvSpPr>
        <p:spPr>
          <a:xfrm>
            <a:off x="5259754" y="4500617"/>
            <a:ext cx="2172677" cy="461665"/>
          </a:xfrm>
          <a:prstGeom prst="rect">
            <a:avLst/>
          </a:prstGeom>
          <a:noFill/>
        </p:spPr>
        <p:txBody>
          <a:bodyPr wrap="square">
            <a:spAutoFit/>
          </a:bodyPr>
          <a:lstStyle/>
          <a:p>
            <a:r>
              <a:rPr lang="en-US" sz="2400" dirty="0">
                <a:ln w="0"/>
                <a:solidFill>
                  <a:schemeClr val="bg1"/>
                </a:solidFill>
                <a:effectLst>
                  <a:outerShdw blurRad="38100" dist="19050" dir="2700000" algn="tl" rotWithShape="0">
                    <a:schemeClr val="dk1">
                      <a:alpha val="40000"/>
                    </a:schemeClr>
                  </a:outerShdw>
                </a:effectLst>
              </a:rPr>
              <a:t>Minjia Zhang</a:t>
            </a:r>
          </a:p>
        </p:txBody>
      </p:sp>
      <p:sp>
        <p:nvSpPr>
          <p:cNvPr id="4" name="TextBox 3">
            <a:extLst>
              <a:ext uri="{FF2B5EF4-FFF2-40B4-BE49-F238E27FC236}">
                <a16:creationId xmlns:a16="http://schemas.microsoft.com/office/drawing/2014/main" id="{D25903DE-AE30-5B96-FE46-7D4BFAB899DA}"/>
              </a:ext>
            </a:extLst>
          </p:cNvPr>
          <p:cNvSpPr txBox="1"/>
          <p:nvPr/>
        </p:nvSpPr>
        <p:spPr>
          <a:xfrm>
            <a:off x="2555630" y="5217643"/>
            <a:ext cx="7580923" cy="461665"/>
          </a:xfrm>
          <a:prstGeom prst="rect">
            <a:avLst/>
          </a:prstGeom>
          <a:noFill/>
        </p:spPr>
        <p:txBody>
          <a:bodyPr wrap="square">
            <a:spAutoFit/>
          </a:bodyPr>
          <a:lstStyle/>
          <a:p>
            <a:pPr algn="ctr"/>
            <a:r>
              <a:rPr lang="en-US" sz="2400" dirty="0">
                <a:ln w="0"/>
                <a:solidFill>
                  <a:schemeClr val="bg1"/>
                </a:solidFill>
                <a:effectLst>
                  <a:outerShdw blurRad="38100" dist="19050" dir="2700000" algn="tl" rotWithShape="0">
                    <a:schemeClr val="dk1">
                      <a:alpha val="40000"/>
                    </a:schemeClr>
                  </a:outerShdw>
                </a:effectLst>
              </a:rPr>
              <a:t>The Grainger College of Engineering</a:t>
            </a:r>
          </a:p>
        </p:txBody>
      </p:sp>
      <p:sp>
        <p:nvSpPr>
          <p:cNvPr id="2" name="Slide Number Placeholder 1">
            <a:extLst>
              <a:ext uri="{FF2B5EF4-FFF2-40B4-BE49-F238E27FC236}">
                <a16:creationId xmlns:a16="http://schemas.microsoft.com/office/drawing/2014/main" id="{A21A61AA-435D-802D-4C93-16EE26BFFA85}"/>
              </a:ext>
            </a:extLst>
          </p:cNvPr>
          <p:cNvSpPr>
            <a:spLocks noGrp="1"/>
          </p:cNvSpPr>
          <p:nvPr>
            <p:ph type="sldNum" sz="quarter" idx="12"/>
          </p:nvPr>
        </p:nvSpPr>
        <p:spPr/>
        <p:txBody>
          <a:bodyPr/>
          <a:lstStyle/>
          <a:p>
            <a:fld id="{D8010B01-9828-43F1-AE47-DA7183CEE7B6}"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AE047-1DB4-B00D-1E60-9BB236AD85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EDE00-1B6B-218F-E21F-02E37EF1F1E7}"/>
              </a:ext>
            </a:extLst>
          </p:cNvPr>
          <p:cNvSpPr>
            <a:spLocks noGrp="1"/>
          </p:cNvSpPr>
          <p:nvPr>
            <p:ph idx="1"/>
          </p:nvPr>
        </p:nvSpPr>
        <p:spPr>
          <a:xfrm>
            <a:off x="734132" y="2137972"/>
            <a:ext cx="10168128" cy="3695020"/>
          </a:xfrm>
        </p:spPr>
        <p:txBody>
          <a:bodyPr>
            <a:normAutofit/>
          </a:bodyPr>
          <a:lstStyle/>
          <a:p>
            <a:pPr marL="0" indent="0">
              <a:buNone/>
            </a:pPr>
            <a:r>
              <a:rPr lang="en-US" sz="3200" dirty="0"/>
              <a:t>DL Inference</a:t>
            </a:r>
            <a:endParaRPr lang="en-US" dirty="0"/>
          </a:p>
          <a:p>
            <a:r>
              <a:rPr lang="en-US" dirty="0"/>
              <a:t>Paged Attention</a:t>
            </a:r>
          </a:p>
          <a:p>
            <a:endParaRPr lang="en-US" dirty="0"/>
          </a:p>
          <a:p>
            <a:pPr marL="0" indent="0">
              <a:buNone/>
            </a:pPr>
            <a:r>
              <a:rPr lang="en-US" dirty="0"/>
              <a:t>Objective: Learn why KV cache is important for LLM inference and how to manage KV cache efficiently</a:t>
            </a:r>
          </a:p>
        </p:txBody>
      </p:sp>
      <p:sp>
        <p:nvSpPr>
          <p:cNvPr id="5" name="Google Shape;145;p7">
            <a:extLst>
              <a:ext uri="{FF2B5EF4-FFF2-40B4-BE49-F238E27FC236}">
                <a16:creationId xmlns:a16="http://schemas.microsoft.com/office/drawing/2014/main" id="{CC769C95-BA24-6706-6025-1C2488710E8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647015BD-AD1C-D016-6899-225A6A0E1913}"/>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Today</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13589DB8-891E-1FD2-2ECB-5E1D80A5ABB1}"/>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A013D55C-1A7B-A11C-4A88-39F3CC675ECD}"/>
              </a:ext>
            </a:extLst>
          </p:cNvPr>
          <p:cNvSpPr>
            <a:spLocks noGrp="1"/>
          </p:cNvSpPr>
          <p:nvPr>
            <p:ph type="sldNum" sz="quarter" idx="12"/>
          </p:nvPr>
        </p:nvSpPr>
        <p:spPr/>
        <p:txBody>
          <a:bodyPr/>
          <a:lstStyle/>
          <a:p>
            <a:fld id="{D8010B01-9828-43F1-AE47-DA7183CEE7B6}" type="slidenum">
              <a:rPr lang="en-US" smtClean="0"/>
              <a:t>2</a:t>
            </a:fld>
            <a:endParaRPr lang="en-US"/>
          </a:p>
        </p:txBody>
      </p:sp>
    </p:spTree>
    <p:extLst>
      <p:ext uri="{BB962C8B-B14F-4D97-AF65-F5344CB8AC3E}">
        <p14:creationId xmlns:p14="http://schemas.microsoft.com/office/powerpoint/2010/main" val="3710240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027E3-91B3-B8A0-6FD2-B2CCE37EE187}"/>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6B67D49F-B923-1F6C-033A-2DE71E697FD5}"/>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0532BC6-0142-6AA5-9573-B79FEDD3B67E}"/>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Serving LLMs is Expensive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B88BE69F-F960-C492-F7AE-335F5E6D2940}"/>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60924C3C-3DD8-0FED-87E3-EBB9EF13FBE5}"/>
              </a:ext>
            </a:extLst>
          </p:cNvPr>
          <p:cNvSpPr>
            <a:spLocks noGrp="1"/>
          </p:cNvSpPr>
          <p:nvPr>
            <p:ph type="sldNum" sz="quarter" idx="12"/>
          </p:nvPr>
        </p:nvSpPr>
        <p:spPr/>
        <p:txBody>
          <a:bodyPr/>
          <a:lstStyle/>
          <a:p>
            <a:fld id="{D8010B01-9828-43F1-AE47-DA7183CEE7B6}" type="slidenum">
              <a:rPr lang="en-US" smtClean="0"/>
              <a:t>3</a:t>
            </a:fld>
            <a:endParaRPr lang="en-US"/>
          </a:p>
        </p:txBody>
      </p:sp>
      <p:pic>
        <p:nvPicPr>
          <p:cNvPr id="9" name="Picture 8">
            <a:extLst>
              <a:ext uri="{FF2B5EF4-FFF2-40B4-BE49-F238E27FC236}">
                <a16:creationId xmlns:a16="http://schemas.microsoft.com/office/drawing/2014/main" id="{18DB94AE-FFA3-C9A5-2D84-6EE6E6B4A0BF}"/>
              </a:ext>
            </a:extLst>
          </p:cNvPr>
          <p:cNvPicPr>
            <a:picLocks noChangeAspect="1"/>
          </p:cNvPicPr>
          <p:nvPr/>
        </p:nvPicPr>
        <p:blipFill>
          <a:blip r:embed="rId4"/>
          <a:stretch>
            <a:fillRect/>
          </a:stretch>
        </p:blipFill>
        <p:spPr>
          <a:xfrm>
            <a:off x="5818195" y="1216914"/>
            <a:ext cx="5827411" cy="4903141"/>
          </a:xfrm>
          <a:prstGeom prst="rect">
            <a:avLst/>
          </a:prstGeom>
        </p:spPr>
      </p:pic>
      <p:sp>
        <p:nvSpPr>
          <p:cNvPr id="11" name="Rectangle 10">
            <a:extLst>
              <a:ext uri="{FF2B5EF4-FFF2-40B4-BE49-F238E27FC236}">
                <a16:creationId xmlns:a16="http://schemas.microsoft.com/office/drawing/2014/main" id="{DED78730-151D-FE9C-A3DE-5A620914EC69}"/>
              </a:ext>
            </a:extLst>
          </p:cNvPr>
          <p:cNvSpPr/>
          <p:nvPr/>
        </p:nvSpPr>
        <p:spPr>
          <a:xfrm>
            <a:off x="5545394" y="1519084"/>
            <a:ext cx="1378974" cy="26325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E63FE079-8B3A-68FB-5E7B-4CC861A8EAD0}"/>
              </a:ext>
            </a:extLst>
          </p:cNvPr>
          <p:cNvSpPr>
            <a:spLocks noGrp="1"/>
          </p:cNvSpPr>
          <p:nvPr>
            <p:ph idx="1"/>
          </p:nvPr>
        </p:nvSpPr>
        <p:spPr>
          <a:xfrm>
            <a:off x="734132" y="2137972"/>
            <a:ext cx="5460191" cy="3695020"/>
          </a:xfrm>
        </p:spPr>
        <p:txBody>
          <a:bodyPr>
            <a:normAutofit/>
          </a:bodyPr>
          <a:lstStyle/>
          <a:p>
            <a:r>
              <a:rPr lang="en-US" dirty="0"/>
              <a:t>A ton of GPUs are required for production scale LLM services</a:t>
            </a:r>
          </a:p>
          <a:p>
            <a:endParaRPr lang="en-US" dirty="0"/>
          </a:p>
          <a:p>
            <a:r>
              <a:rPr lang="en-US" dirty="0"/>
              <a:t>Nevertheless, each GPU only serve a handful of requests per second</a:t>
            </a:r>
          </a:p>
          <a:p>
            <a:pPr lvl="1"/>
            <a:r>
              <a:rPr lang="en-US" dirty="0"/>
              <a:t>For LLaMA-13B and moderate-size inputs, 1 A100 process &lt; 1 request per second</a:t>
            </a:r>
          </a:p>
        </p:txBody>
      </p:sp>
    </p:spTree>
    <p:extLst>
      <p:ext uri="{BB962C8B-B14F-4D97-AF65-F5344CB8AC3E}">
        <p14:creationId xmlns:p14="http://schemas.microsoft.com/office/powerpoint/2010/main" val="575945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2">
          <a:extLst>
            <a:ext uri="{FF2B5EF4-FFF2-40B4-BE49-F238E27FC236}">
              <a16:creationId xmlns:a16="http://schemas.microsoft.com/office/drawing/2014/main" id="{51B633A8-9D2D-FAFB-CEAB-C7FA900FDAEF}"/>
            </a:ext>
          </a:extLst>
        </p:cNvPr>
        <p:cNvGrpSpPr/>
        <p:nvPr/>
      </p:nvGrpSpPr>
      <p:grpSpPr>
        <a:xfrm>
          <a:off x="0" y="0"/>
          <a:ext cx="0" cy="0"/>
          <a:chOff x="0" y="0"/>
          <a:chExt cx="0" cy="0"/>
        </a:xfrm>
      </p:grpSpPr>
      <p:sp>
        <p:nvSpPr>
          <p:cNvPr id="2" name="Google Shape;145;p7">
            <a:extLst>
              <a:ext uri="{FF2B5EF4-FFF2-40B4-BE49-F238E27FC236}">
                <a16:creationId xmlns:a16="http://schemas.microsoft.com/office/drawing/2014/main" id="{D263DE8B-B06E-EB3B-7D15-2FAA3CFB94D3}"/>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3" name="Google Shape;100;p1">
            <a:extLst>
              <a:ext uri="{FF2B5EF4-FFF2-40B4-BE49-F238E27FC236}">
                <a16:creationId xmlns:a16="http://schemas.microsoft.com/office/drawing/2014/main" id="{5D4D1608-1D6D-487B-0C94-2A2EB2575E43}"/>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dirty="0">
                <a:solidFill>
                  <a:schemeClr val="lt1"/>
                </a:solidFill>
                <a:latin typeface="+mn-lt"/>
                <a:ea typeface="Helvetica Neue Light"/>
                <a:cs typeface="Helvetica Neue Light"/>
                <a:sym typeface="Helvetica Neue Light"/>
              </a:rPr>
              <a:t>Throughput Improvement from Continuous Batching</a:t>
            </a:r>
          </a:p>
        </p:txBody>
      </p:sp>
      <p:pic>
        <p:nvPicPr>
          <p:cNvPr id="4" name="Picture 3">
            <a:extLst>
              <a:ext uri="{FF2B5EF4-FFF2-40B4-BE49-F238E27FC236}">
                <a16:creationId xmlns:a16="http://schemas.microsoft.com/office/drawing/2014/main" id="{379F2CB4-95A6-9F96-6DBD-1F2D30FA51A3}"/>
              </a:ext>
            </a:extLst>
          </p:cNvPr>
          <p:cNvPicPr>
            <a:picLocks noChangeAspect="1"/>
          </p:cNvPicPr>
          <p:nvPr/>
        </p:nvPicPr>
        <p:blipFill>
          <a:blip r:embed="rId3"/>
          <a:stretch>
            <a:fillRect/>
          </a:stretch>
        </p:blipFill>
        <p:spPr>
          <a:xfrm>
            <a:off x="11557509" y="233819"/>
            <a:ext cx="271308" cy="389810"/>
          </a:xfrm>
          <a:prstGeom prst="rect">
            <a:avLst/>
          </a:prstGeom>
        </p:spPr>
      </p:pic>
      <p:pic>
        <p:nvPicPr>
          <p:cNvPr id="2050" name="Picture 2" descr="cb 08 throughput graph">
            <a:extLst>
              <a:ext uri="{FF2B5EF4-FFF2-40B4-BE49-F238E27FC236}">
                <a16:creationId xmlns:a16="http://schemas.microsoft.com/office/drawing/2014/main" id="{16D9A3FE-53FF-1B9D-AE0D-CB1A79480C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737" y="1183682"/>
            <a:ext cx="10460213" cy="51715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707FEF5-8475-B6DA-C529-1B67587D439D}"/>
              </a:ext>
            </a:extLst>
          </p:cNvPr>
          <p:cNvSpPr txBox="1"/>
          <p:nvPr/>
        </p:nvSpPr>
        <p:spPr>
          <a:xfrm>
            <a:off x="661737" y="6355222"/>
            <a:ext cx="8751770" cy="369332"/>
          </a:xfrm>
          <a:prstGeom prst="rect">
            <a:avLst/>
          </a:prstGeom>
          <a:noFill/>
        </p:spPr>
        <p:txBody>
          <a:bodyPr wrap="square">
            <a:spAutoFit/>
          </a:bodyPr>
          <a:lstStyle/>
          <a:p>
            <a:r>
              <a:rPr lang="en-US" dirty="0">
                <a:solidFill>
                  <a:schemeClr val="bg1">
                    <a:lumMod val="65000"/>
                  </a:schemeClr>
                </a:solidFill>
              </a:rPr>
              <a:t>https://www.anyscale.com/blog/continuous-batching-llm-inference</a:t>
            </a:r>
          </a:p>
        </p:txBody>
      </p:sp>
    </p:spTree>
    <p:extLst>
      <p:ext uri="{BB962C8B-B14F-4D97-AF65-F5344CB8AC3E}">
        <p14:creationId xmlns:p14="http://schemas.microsoft.com/office/powerpoint/2010/main" val="1173273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24E0E-E1F9-4B35-7F5D-355475A648B6}"/>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E8DC2DEB-11A5-BC61-5299-E08A90614620}"/>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DA485242-08C3-442B-2CFD-4C6F4BA5DB49}"/>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7FF34B53-23E3-E482-F8CC-DA9E5794A5A1}"/>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1A37D94A-D0A3-0B41-B68A-E0BC48AB8952}"/>
              </a:ext>
            </a:extLst>
          </p:cNvPr>
          <p:cNvSpPr>
            <a:spLocks noGrp="1"/>
          </p:cNvSpPr>
          <p:nvPr>
            <p:ph type="sldNum" sz="quarter" idx="12"/>
          </p:nvPr>
        </p:nvSpPr>
        <p:spPr/>
        <p:txBody>
          <a:bodyPr/>
          <a:lstStyle/>
          <a:p>
            <a:fld id="{D8010B01-9828-43F1-AE47-DA7183CEE7B6}" type="slidenum">
              <a:rPr lang="en-US" smtClean="0"/>
              <a:t>5</a:t>
            </a:fld>
            <a:endParaRPr lang="en-US"/>
          </a:p>
        </p:txBody>
      </p:sp>
      <p:pic>
        <p:nvPicPr>
          <p:cNvPr id="10" name="Picture 9">
            <a:extLst>
              <a:ext uri="{FF2B5EF4-FFF2-40B4-BE49-F238E27FC236}">
                <a16:creationId xmlns:a16="http://schemas.microsoft.com/office/drawing/2014/main" id="{357F207A-8F90-53D6-01F3-CADC9E752C42}"/>
              </a:ext>
            </a:extLst>
          </p:cNvPr>
          <p:cNvPicPr>
            <a:picLocks noChangeAspect="1"/>
          </p:cNvPicPr>
          <p:nvPr/>
        </p:nvPicPr>
        <p:blipFill>
          <a:blip r:embed="rId4"/>
          <a:stretch>
            <a:fillRect/>
          </a:stretch>
        </p:blipFill>
        <p:spPr>
          <a:xfrm>
            <a:off x="811800" y="1614234"/>
            <a:ext cx="10461409" cy="4488510"/>
          </a:xfrm>
          <a:prstGeom prst="rect">
            <a:avLst/>
          </a:prstGeom>
        </p:spPr>
      </p:pic>
    </p:spTree>
    <p:extLst>
      <p:ext uri="{BB962C8B-B14F-4D97-AF65-F5344CB8AC3E}">
        <p14:creationId xmlns:p14="http://schemas.microsoft.com/office/powerpoint/2010/main" val="3305811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8870-FA7D-2315-BF25-CA2D9201716E}"/>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AEB5F208-5E4E-0937-8721-804BA7331AFF}"/>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1DFB0A31-20AE-E4A2-56F3-9EAF222A5C75}"/>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DA97382B-1BBF-4E15-56B4-48770519D13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76AE1C03-C929-AF41-9660-763B78E17222}"/>
              </a:ext>
            </a:extLst>
          </p:cNvPr>
          <p:cNvSpPr>
            <a:spLocks noGrp="1"/>
          </p:cNvSpPr>
          <p:nvPr>
            <p:ph type="sldNum" sz="quarter" idx="12"/>
          </p:nvPr>
        </p:nvSpPr>
        <p:spPr/>
        <p:txBody>
          <a:bodyPr/>
          <a:lstStyle/>
          <a:p>
            <a:fld id="{D8010B01-9828-43F1-AE47-DA7183CEE7B6}" type="slidenum">
              <a:rPr lang="en-US" smtClean="0"/>
              <a:t>6</a:t>
            </a:fld>
            <a:endParaRPr lang="en-US"/>
          </a:p>
        </p:txBody>
      </p:sp>
      <p:pic>
        <p:nvPicPr>
          <p:cNvPr id="4" name="Picture 3">
            <a:extLst>
              <a:ext uri="{FF2B5EF4-FFF2-40B4-BE49-F238E27FC236}">
                <a16:creationId xmlns:a16="http://schemas.microsoft.com/office/drawing/2014/main" id="{8D392945-E016-0CC7-E778-DCCF702DF5BF}"/>
              </a:ext>
            </a:extLst>
          </p:cNvPr>
          <p:cNvPicPr>
            <a:picLocks noChangeAspect="1"/>
          </p:cNvPicPr>
          <p:nvPr/>
        </p:nvPicPr>
        <p:blipFill>
          <a:blip r:embed="rId4"/>
          <a:stretch>
            <a:fillRect/>
          </a:stretch>
        </p:blipFill>
        <p:spPr>
          <a:xfrm>
            <a:off x="2018061" y="1335106"/>
            <a:ext cx="7600270" cy="4879501"/>
          </a:xfrm>
          <a:prstGeom prst="rect">
            <a:avLst/>
          </a:prstGeom>
        </p:spPr>
      </p:pic>
    </p:spTree>
    <p:extLst>
      <p:ext uri="{BB962C8B-B14F-4D97-AF65-F5344CB8AC3E}">
        <p14:creationId xmlns:p14="http://schemas.microsoft.com/office/powerpoint/2010/main" val="133837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9AF89-39CB-536A-CEA5-FCEF872A9589}"/>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DD12C8AF-8AFA-26BD-260B-2181C050D572}"/>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BC32F7B0-C132-B8DA-0FBF-AA668E1A38DE}"/>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137A15C2-C334-33E2-B9EC-C80B16066EFA}"/>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CCC783CD-39CA-2D9B-1286-A6269A5DDE60}"/>
              </a:ext>
            </a:extLst>
          </p:cNvPr>
          <p:cNvSpPr>
            <a:spLocks noGrp="1"/>
          </p:cNvSpPr>
          <p:nvPr>
            <p:ph type="sldNum" sz="quarter" idx="12"/>
          </p:nvPr>
        </p:nvSpPr>
        <p:spPr/>
        <p:txBody>
          <a:bodyPr/>
          <a:lstStyle/>
          <a:p>
            <a:fld id="{D8010B01-9828-43F1-AE47-DA7183CEE7B6}" type="slidenum">
              <a:rPr lang="en-US" smtClean="0"/>
              <a:t>7</a:t>
            </a:fld>
            <a:endParaRPr lang="en-US"/>
          </a:p>
        </p:txBody>
      </p:sp>
      <p:pic>
        <p:nvPicPr>
          <p:cNvPr id="4" name="Picture 3">
            <a:extLst>
              <a:ext uri="{FF2B5EF4-FFF2-40B4-BE49-F238E27FC236}">
                <a16:creationId xmlns:a16="http://schemas.microsoft.com/office/drawing/2014/main" id="{B41B6E87-8A1F-AF2F-D78F-92C92642CCBB}"/>
              </a:ext>
            </a:extLst>
          </p:cNvPr>
          <p:cNvPicPr>
            <a:picLocks noChangeAspect="1"/>
          </p:cNvPicPr>
          <p:nvPr/>
        </p:nvPicPr>
        <p:blipFill>
          <a:blip r:embed="rId4"/>
          <a:stretch>
            <a:fillRect/>
          </a:stretch>
        </p:blipFill>
        <p:spPr>
          <a:xfrm>
            <a:off x="1317498" y="1552486"/>
            <a:ext cx="9557003" cy="4464855"/>
          </a:xfrm>
          <a:prstGeom prst="rect">
            <a:avLst/>
          </a:prstGeom>
        </p:spPr>
      </p:pic>
    </p:spTree>
    <p:extLst>
      <p:ext uri="{BB962C8B-B14F-4D97-AF65-F5344CB8AC3E}">
        <p14:creationId xmlns:p14="http://schemas.microsoft.com/office/powerpoint/2010/main" val="3633877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F5F35-9B9B-4A9C-0F5F-6CBBCAADC988}"/>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FD4C9C28-6011-388C-698E-865AC853142B}"/>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F1C43C4-191F-6B4D-1860-D6E8C1DA04CE}"/>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Naïv</a:t>
            </a:r>
            <a:r>
              <a:rPr lang="en-US" sz="3200" dirty="0">
                <a:solidFill>
                  <a:schemeClr val="lt1"/>
                </a:solidFill>
                <a:latin typeface="+mn-lt"/>
                <a:ea typeface="Helvetica Neue Light"/>
                <a:cs typeface="Helvetica Neue Light"/>
                <a:sym typeface="Helvetica Neue Light"/>
              </a:rPr>
              <a:t>e Self-Attention</a:t>
            </a:r>
          </a:p>
        </p:txBody>
      </p:sp>
      <p:pic>
        <p:nvPicPr>
          <p:cNvPr id="7" name="Picture 6">
            <a:extLst>
              <a:ext uri="{FF2B5EF4-FFF2-40B4-BE49-F238E27FC236}">
                <a16:creationId xmlns:a16="http://schemas.microsoft.com/office/drawing/2014/main" id="{57C1088B-7DA3-1B40-2B97-AB8624992056}"/>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D007E215-1BD3-8FBD-EB8A-2A1669D5101E}"/>
              </a:ext>
            </a:extLst>
          </p:cNvPr>
          <p:cNvSpPr>
            <a:spLocks noGrp="1"/>
          </p:cNvSpPr>
          <p:nvPr>
            <p:ph type="sldNum" sz="quarter" idx="12"/>
          </p:nvPr>
        </p:nvSpPr>
        <p:spPr/>
        <p:txBody>
          <a:bodyPr/>
          <a:lstStyle/>
          <a:p>
            <a:fld id="{D8010B01-9828-43F1-AE47-DA7183CEE7B6}" type="slidenum">
              <a:rPr lang="en-US" smtClean="0"/>
              <a:t>8</a:t>
            </a:fld>
            <a:endParaRPr lang="en-US"/>
          </a:p>
        </p:txBody>
      </p:sp>
      <p:pic>
        <p:nvPicPr>
          <p:cNvPr id="4" name="Picture 3">
            <a:extLst>
              <a:ext uri="{FF2B5EF4-FFF2-40B4-BE49-F238E27FC236}">
                <a16:creationId xmlns:a16="http://schemas.microsoft.com/office/drawing/2014/main" id="{95BD8312-7EA0-8585-5A2B-41DD9B4F53B6}"/>
              </a:ext>
            </a:extLst>
          </p:cNvPr>
          <p:cNvPicPr>
            <a:picLocks noChangeAspect="1"/>
          </p:cNvPicPr>
          <p:nvPr/>
        </p:nvPicPr>
        <p:blipFill>
          <a:blip r:embed="rId4"/>
          <a:stretch>
            <a:fillRect/>
          </a:stretch>
        </p:blipFill>
        <p:spPr>
          <a:xfrm>
            <a:off x="1160429" y="1216740"/>
            <a:ext cx="9200312" cy="5222102"/>
          </a:xfrm>
          <a:prstGeom prst="rect">
            <a:avLst/>
          </a:prstGeom>
        </p:spPr>
      </p:pic>
      <p:sp>
        <p:nvSpPr>
          <p:cNvPr id="9" name="Rectangle 8">
            <a:extLst>
              <a:ext uri="{FF2B5EF4-FFF2-40B4-BE49-F238E27FC236}">
                <a16:creationId xmlns:a16="http://schemas.microsoft.com/office/drawing/2014/main" id="{1916619D-CB92-6A76-D0A8-69654649487B}"/>
              </a:ext>
            </a:extLst>
          </p:cNvPr>
          <p:cNvSpPr/>
          <p:nvPr/>
        </p:nvSpPr>
        <p:spPr>
          <a:xfrm>
            <a:off x="943897" y="1283110"/>
            <a:ext cx="2898058" cy="5973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4D02392-A63C-E178-6B2F-0431C68A050E}"/>
              </a:ext>
            </a:extLst>
          </p:cNvPr>
          <p:cNvSpPr txBox="1"/>
          <p:nvPr/>
        </p:nvSpPr>
        <p:spPr>
          <a:xfrm>
            <a:off x="7928429" y="3933371"/>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3493623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0C8DF-EC2F-5609-D770-B8058D86F53D}"/>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2BF752BE-4D8E-830D-253A-4FDC80530A82}"/>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02A8DFE8-457F-D859-B992-23D825091A6D}"/>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Naïv</a:t>
            </a:r>
            <a:r>
              <a:rPr lang="en-US" sz="3200" dirty="0">
                <a:solidFill>
                  <a:schemeClr val="lt1"/>
                </a:solidFill>
                <a:latin typeface="+mn-lt"/>
                <a:ea typeface="Helvetica Neue Light"/>
                <a:cs typeface="Helvetica Neue Light"/>
                <a:sym typeface="Helvetica Neue Light"/>
              </a:rPr>
              <a:t>e Self-Attention</a:t>
            </a:r>
          </a:p>
        </p:txBody>
      </p:sp>
      <p:pic>
        <p:nvPicPr>
          <p:cNvPr id="7" name="Picture 6">
            <a:extLst>
              <a:ext uri="{FF2B5EF4-FFF2-40B4-BE49-F238E27FC236}">
                <a16:creationId xmlns:a16="http://schemas.microsoft.com/office/drawing/2014/main" id="{5B0CA04D-AF0F-2A6F-1129-1B118EEB21D7}"/>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3594D02E-1658-9052-2D95-7AD034FEB121}"/>
              </a:ext>
            </a:extLst>
          </p:cNvPr>
          <p:cNvSpPr>
            <a:spLocks noGrp="1"/>
          </p:cNvSpPr>
          <p:nvPr>
            <p:ph type="sldNum" sz="quarter" idx="12"/>
          </p:nvPr>
        </p:nvSpPr>
        <p:spPr/>
        <p:txBody>
          <a:bodyPr/>
          <a:lstStyle/>
          <a:p>
            <a:fld id="{D8010B01-9828-43F1-AE47-DA7183CEE7B6}" type="slidenum">
              <a:rPr lang="en-US" smtClean="0"/>
              <a:t>9</a:t>
            </a:fld>
            <a:endParaRPr lang="en-US"/>
          </a:p>
        </p:txBody>
      </p:sp>
      <p:pic>
        <p:nvPicPr>
          <p:cNvPr id="8" name="Picture 7">
            <a:extLst>
              <a:ext uri="{FF2B5EF4-FFF2-40B4-BE49-F238E27FC236}">
                <a16:creationId xmlns:a16="http://schemas.microsoft.com/office/drawing/2014/main" id="{B890D914-D591-ED48-6E8B-FAE239ACD60D}"/>
              </a:ext>
            </a:extLst>
          </p:cNvPr>
          <p:cNvPicPr>
            <a:picLocks noChangeAspect="1"/>
          </p:cNvPicPr>
          <p:nvPr/>
        </p:nvPicPr>
        <p:blipFill>
          <a:blip r:embed="rId4"/>
          <a:stretch>
            <a:fillRect/>
          </a:stretch>
        </p:blipFill>
        <p:spPr>
          <a:xfrm>
            <a:off x="1401097" y="1283110"/>
            <a:ext cx="9247238" cy="5152354"/>
          </a:xfrm>
          <a:prstGeom prst="rect">
            <a:avLst/>
          </a:prstGeom>
        </p:spPr>
      </p:pic>
      <p:sp>
        <p:nvSpPr>
          <p:cNvPr id="9" name="Rectangle 8">
            <a:extLst>
              <a:ext uri="{FF2B5EF4-FFF2-40B4-BE49-F238E27FC236}">
                <a16:creationId xmlns:a16="http://schemas.microsoft.com/office/drawing/2014/main" id="{6043CEEC-C4C3-13DC-9677-7FFBD96EFC1A}"/>
              </a:ext>
            </a:extLst>
          </p:cNvPr>
          <p:cNvSpPr/>
          <p:nvPr/>
        </p:nvSpPr>
        <p:spPr>
          <a:xfrm>
            <a:off x="943896" y="1283110"/>
            <a:ext cx="3156155" cy="5973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09A1400-EA9D-261A-595A-D187FAA935D7}"/>
              </a:ext>
            </a:extLst>
          </p:cNvPr>
          <p:cNvSpPr txBox="1"/>
          <p:nvPr/>
        </p:nvSpPr>
        <p:spPr>
          <a:xfrm>
            <a:off x="8305801" y="3859287"/>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495094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1141E-44B7-DA1E-984B-FE1B9AA90F89}"/>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54C002E1-E94A-ED04-72ED-07E6FCC11F4E}"/>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2A2B030-CDFD-C289-0403-163244D9B6F9}"/>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Naïv</a:t>
            </a:r>
            <a:r>
              <a:rPr lang="en-US" sz="3200" dirty="0">
                <a:solidFill>
                  <a:schemeClr val="lt1"/>
                </a:solidFill>
                <a:latin typeface="+mn-lt"/>
                <a:ea typeface="Helvetica Neue Light"/>
                <a:cs typeface="Helvetica Neue Light"/>
                <a:sym typeface="Helvetica Neue Light"/>
              </a:rPr>
              <a:t>e Self-Attention</a:t>
            </a:r>
          </a:p>
        </p:txBody>
      </p:sp>
      <p:pic>
        <p:nvPicPr>
          <p:cNvPr id="7" name="Picture 6">
            <a:extLst>
              <a:ext uri="{FF2B5EF4-FFF2-40B4-BE49-F238E27FC236}">
                <a16:creationId xmlns:a16="http://schemas.microsoft.com/office/drawing/2014/main" id="{7DD01ECE-1CD6-9AFB-15B8-0A72C858C152}"/>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97B46C1E-21E9-1F37-6D8C-B53EF1CA9CF3}"/>
              </a:ext>
            </a:extLst>
          </p:cNvPr>
          <p:cNvSpPr>
            <a:spLocks noGrp="1"/>
          </p:cNvSpPr>
          <p:nvPr>
            <p:ph type="sldNum" sz="quarter" idx="12"/>
          </p:nvPr>
        </p:nvSpPr>
        <p:spPr/>
        <p:txBody>
          <a:bodyPr/>
          <a:lstStyle/>
          <a:p>
            <a:fld id="{D8010B01-9828-43F1-AE47-DA7183CEE7B6}" type="slidenum">
              <a:rPr lang="en-US" smtClean="0"/>
              <a:t>10</a:t>
            </a:fld>
            <a:endParaRPr lang="en-US"/>
          </a:p>
        </p:txBody>
      </p:sp>
      <p:pic>
        <p:nvPicPr>
          <p:cNvPr id="32" name="Picture 31">
            <a:extLst>
              <a:ext uri="{FF2B5EF4-FFF2-40B4-BE49-F238E27FC236}">
                <a16:creationId xmlns:a16="http://schemas.microsoft.com/office/drawing/2014/main" id="{AED8254E-F915-F72B-07F6-1EE8BEFB9918}"/>
              </a:ext>
            </a:extLst>
          </p:cNvPr>
          <p:cNvPicPr>
            <a:picLocks noChangeAspect="1"/>
          </p:cNvPicPr>
          <p:nvPr/>
        </p:nvPicPr>
        <p:blipFill>
          <a:blip r:embed="rId4"/>
          <a:stretch>
            <a:fillRect/>
          </a:stretch>
        </p:blipFill>
        <p:spPr>
          <a:xfrm>
            <a:off x="1542050" y="1305232"/>
            <a:ext cx="9203502" cy="5051118"/>
          </a:xfrm>
          <a:prstGeom prst="rect">
            <a:avLst/>
          </a:prstGeom>
        </p:spPr>
      </p:pic>
      <p:sp>
        <p:nvSpPr>
          <p:cNvPr id="33" name="Rectangle 32">
            <a:extLst>
              <a:ext uri="{FF2B5EF4-FFF2-40B4-BE49-F238E27FC236}">
                <a16:creationId xmlns:a16="http://schemas.microsoft.com/office/drawing/2014/main" id="{A29C00B6-F020-E9F7-120E-00C867F06A8C}"/>
              </a:ext>
            </a:extLst>
          </p:cNvPr>
          <p:cNvSpPr/>
          <p:nvPr/>
        </p:nvSpPr>
        <p:spPr>
          <a:xfrm>
            <a:off x="933802" y="1305232"/>
            <a:ext cx="3156155" cy="5973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0F1DFA4-18DE-05D6-9CA8-6C7DE0F2500D}"/>
              </a:ext>
            </a:extLst>
          </p:cNvPr>
          <p:cNvSpPr txBox="1"/>
          <p:nvPr/>
        </p:nvSpPr>
        <p:spPr>
          <a:xfrm>
            <a:off x="8392887" y="3917875"/>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3717283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33068-5030-9383-4849-D72A2542FA33}"/>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29E45120-F671-2B7D-4F24-95C85E91E08C}"/>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64B0BF43-2FB5-7415-A932-0D1A65980E66}"/>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Naïv</a:t>
            </a:r>
            <a:r>
              <a:rPr lang="en-US" sz="3200" dirty="0">
                <a:solidFill>
                  <a:schemeClr val="lt1"/>
                </a:solidFill>
                <a:latin typeface="+mn-lt"/>
                <a:ea typeface="Helvetica Neue Light"/>
                <a:cs typeface="Helvetica Neue Light"/>
                <a:sym typeface="Helvetica Neue Light"/>
              </a:rPr>
              <a:t>e Self-Attention</a:t>
            </a:r>
          </a:p>
        </p:txBody>
      </p:sp>
      <p:pic>
        <p:nvPicPr>
          <p:cNvPr id="7" name="Picture 6">
            <a:extLst>
              <a:ext uri="{FF2B5EF4-FFF2-40B4-BE49-F238E27FC236}">
                <a16:creationId xmlns:a16="http://schemas.microsoft.com/office/drawing/2014/main" id="{9468A8EB-F9C1-795E-33ED-F8908946F62B}"/>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BB0404A1-BBD9-7385-8842-8944ADA45E11}"/>
              </a:ext>
            </a:extLst>
          </p:cNvPr>
          <p:cNvSpPr>
            <a:spLocks noGrp="1"/>
          </p:cNvSpPr>
          <p:nvPr>
            <p:ph type="sldNum" sz="quarter" idx="12"/>
          </p:nvPr>
        </p:nvSpPr>
        <p:spPr/>
        <p:txBody>
          <a:bodyPr/>
          <a:lstStyle/>
          <a:p>
            <a:fld id="{D8010B01-9828-43F1-AE47-DA7183CEE7B6}" type="slidenum">
              <a:rPr lang="en-US" smtClean="0"/>
              <a:t>11</a:t>
            </a:fld>
            <a:endParaRPr lang="en-US"/>
          </a:p>
        </p:txBody>
      </p:sp>
      <p:pic>
        <p:nvPicPr>
          <p:cNvPr id="4" name="Picture 3">
            <a:extLst>
              <a:ext uri="{FF2B5EF4-FFF2-40B4-BE49-F238E27FC236}">
                <a16:creationId xmlns:a16="http://schemas.microsoft.com/office/drawing/2014/main" id="{D4B9D581-26BC-6658-F222-358E77251BCD}"/>
              </a:ext>
            </a:extLst>
          </p:cNvPr>
          <p:cNvPicPr>
            <a:picLocks noChangeAspect="1"/>
          </p:cNvPicPr>
          <p:nvPr/>
        </p:nvPicPr>
        <p:blipFill>
          <a:blip r:embed="rId4"/>
          <a:stretch>
            <a:fillRect/>
          </a:stretch>
        </p:blipFill>
        <p:spPr>
          <a:xfrm>
            <a:off x="1469503" y="1275650"/>
            <a:ext cx="9252994" cy="5252639"/>
          </a:xfrm>
          <a:prstGeom prst="rect">
            <a:avLst/>
          </a:prstGeom>
        </p:spPr>
      </p:pic>
      <p:sp>
        <p:nvSpPr>
          <p:cNvPr id="33" name="Rectangle 32">
            <a:extLst>
              <a:ext uri="{FF2B5EF4-FFF2-40B4-BE49-F238E27FC236}">
                <a16:creationId xmlns:a16="http://schemas.microsoft.com/office/drawing/2014/main" id="{ED42260B-C191-8A5C-7626-B5EFD9F04372}"/>
              </a:ext>
            </a:extLst>
          </p:cNvPr>
          <p:cNvSpPr/>
          <p:nvPr/>
        </p:nvSpPr>
        <p:spPr>
          <a:xfrm>
            <a:off x="988141" y="1275650"/>
            <a:ext cx="3156155" cy="5973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817601B-29BB-8740-DB9C-1FD965A165B8}"/>
              </a:ext>
            </a:extLst>
          </p:cNvPr>
          <p:cNvSpPr txBox="1"/>
          <p:nvPr/>
        </p:nvSpPr>
        <p:spPr>
          <a:xfrm>
            <a:off x="8378371" y="4020457"/>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2769666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DFEA-423F-1913-D51B-5F1C497A78B1}"/>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94359366-E854-6E63-38B7-C4F67983F91B}"/>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14CF8637-F1C3-7C96-80E0-0C71ACF8E8A3}"/>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Naïv</a:t>
            </a:r>
            <a:r>
              <a:rPr lang="en-US" sz="3200" dirty="0">
                <a:solidFill>
                  <a:schemeClr val="lt1"/>
                </a:solidFill>
                <a:latin typeface="+mn-lt"/>
                <a:ea typeface="Helvetica Neue Light"/>
                <a:cs typeface="Helvetica Neue Light"/>
                <a:sym typeface="Helvetica Neue Light"/>
              </a:rPr>
              <a:t>e Self-Attention</a:t>
            </a:r>
          </a:p>
        </p:txBody>
      </p:sp>
      <p:pic>
        <p:nvPicPr>
          <p:cNvPr id="7" name="Picture 6">
            <a:extLst>
              <a:ext uri="{FF2B5EF4-FFF2-40B4-BE49-F238E27FC236}">
                <a16:creationId xmlns:a16="http://schemas.microsoft.com/office/drawing/2014/main" id="{0D236D64-FA2E-A468-F17E-4AABF1553BC0}"/>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EDA1AFA8-9853-7E09-3AB2-E9015AB5DCD5}"/>
              </a:ext>
            </a:extLst>
          </p:cNvPr>
          <p:cNvSpPr>
            <a:spLocks noGrp="1"/>
          </p:cNvSpPr>
          <p:nvPr>
            <p:ph type="sldNum" sz="quarter" idx="12"/>
          </p:nvPr>
        </p:nvSpPr>
        <p:spPr/>
        <p:txBody>
          <a:bodyPr/>
          <a:lstStyle/>
          <a:p>
            <a:fld id="{D8010B01-9828-43F1-AE47-DA7183CEE7B6}" type="slidenum">
              <a:rPr lang="en-US" smtClean="0"/>
              <a:t>12</a:t>
            </a:fld>
            <a:endParaRPr lang="en-US"/>
          </a:p>
        </p:txBody>
      </p:sp>
      <p:pic>
        <p:nvPicPr>
          <p:cNvPr id="4" name="Picture 3">
            <a:extLst>
              <a:ext uri="{FF2B5EF4-FFF2-40B4-BE49-F238E27FC236}">
                <a16:creationId xmlns:a16="http://schemas.microsoft.com/office/drawing/2014/main" id="{0B15FAA2-D6C7-26C3-3B21-7529A2C4FE37}"/>
              </a:ext>
            </a:extLst>
          </p:cNvPr>
          <p:cNvPicPr>
            <a:picLocks noChangeAspect="1"/>
          </p:cNvPicPr>
          <p:nvPr/>
        </p:nvPicPr>
        <p:blipFill>
          <a:blip r:embed="rId4"/>
          <a:stretch>
            <a:fillRect/>
          </a:stretch>
        </p:blipFill>
        <p:spPr>
          <a:xfrm>
            <a:off x="1469503" y="1275650"/>
            <a:ext cx="9252994" cy="5252639"/>
          </a:xfrm>
          <a:prstGeom prst="rect">
            <a:avLst/>
          </a:prstGeom>
        </p:spPr>
      </p:pic>
      <p:sp>
        <p:nvSpPr>
          <p:cNvPr id="33" name="Rectangle 32">
            <a:extLst>
              <a:ext uri="{FF2B5EF4-FFF2-40B4-BE49-F238E27FC236}">
                <a16:creationId xmlns:a16="http://schemas.microsoft.com/office/drawing/2014/main" id="{B7A31B98-E862-2FAB-7B38-4B1CA59005C3}"/>
              </a:ext>
            </a:extLst>
          </p:cNvPr>
          <p:cNvSpPr/>
          <p:nvPr/>
        </p:nvSpPr>
        <p:spPr>
          <a:xfrm>
            <a:off x="988141" y="1275650"/>
            <a:ext cx="3156155" cy="5973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A06980D-A9EC-4F00-1FD5-A3F82448D0F4}"/>
              </a:ext>
            </a:extLst>
          </p:cNvPr>
          <p:cNvSpPr txBox="1"/>
          <p:nvPr/>
        </p:nvSpPr>
        <p:spPr>
          <a:xfrm>
            <a:off x="9660092" y="3909580"/>
            <a:ext cx="2168725" cy="1200329"/>
          </a:xfrm>
          <a:prstGeom prst="rect">
            <a:avLst/>
          </a:prstGeom>
          <a:noFill/>
        </p:spPr>
        <p:txBody>
          <a:bodyPr wrap="square" rtlCol="0">
            <a:spAutoFit/>
          </a:bodyPr>
          <a:lstStyle/>
          <a:p>
            <a:r>
              <a:rPr lang="en-US" sz="2400" dirty="0">
                <a:solidFill>
                  <a:srgbClr val="C00000"/>
                </a:solidFill>
              </a:rPr>
              <a:t>Question: Issue with naive attention? </a:t>
            </a:r>
          </a:p>
        </p:txBody>
      </p:sp>
      <p:sp>
        <p:nvSpPr>
          <p:cNvPr id="9" name="TextBox 8">
            <a:extLst>
              <a:ext uri="{FF2B5EF4-FFF2-40B4-BE49-F238E27FC236}">
                <a16:creationId xmlns:a16="http://schemas.microsoft.com/office/drawing/2014/main" id="{77759D8E-0DFD-5CC5-617C-6C3B82D0BFB3}"/>
              </a:ext>
            </a:extLst>
          </p:cNvPr>
          <p:cNvSpPr txBox="1"/>
          <p:nvPr/>
        </p:nvSpPr>
        <p:spPr>
          <a:xfrm>
            <a:off x="8349343" y="3996664"/>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1333357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F61B-200B-721E-99C0-99761ABB5060}"/>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6CB12EFB-2AC4-097F-5291-F1D6E89624DC}"/>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0D7A675F-89C5-B8CF-C00E-699C17753D11}"/>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DB6F1C5D-F5D1-D210-545F-10A160DD5DA0}"/>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1E239012-3651-8B9A-D31A-B45FD9D84B1F}"/>
              </a:ext>
            </a:extLst>
          </p:cNvPr>
          <p:cNvSpPr>
            <a:spLocks noGrp="1"/>
          </p:cNvSpPr>
          <p:nvPr>
            <p:ph type="sldNum" sz="quarter" idx="12"/>
          </p:nvPr>
        </p:nvSpPr>
        <p:spPr/>
        <p:txBody>
          <a:bodyPr/>
          <a:lstStyle/>
          <a:p>
            <a:fld id="{D8010B01-9828-43F1-AE47-DA7183CEE7B6}" type="slidenum">
              <a:rPr lang="en-US" smtClean="0"/>
              <a:t>13</a:t>
            </a:fld>
            <a:endParaRPr lang="en-US"/>
          </a:p>
        </p:txBody>
      </p:sp>
      <p:sp>
        <p:nvSpPr>
          <p:cNvPr id="33" name="Rectangle 32">
            <a:extLst>
              <a:ext uri="{FF2B5EF4-FFF2-40B4-BE49-F238E27FC236}">
                <a16:creationId xmlns:a16="http://schemas.microsoft.com/office/drawing/2014/main" id="{9A1A54B5-E884-2017-5FEB-B486B8EEB67B}"/>
              </a:ext>
            </a:extLst>
          </p:cNvPr>
          <p:cNvSpPr/>
          <p:nvPr/>
        </p:nvSpPr>
        <p:spPr>
          <a:xfrm>
            <a:off x="988141" y="1275650"/>
            <a:ext cx="3156155" cy="5973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38E9C82-8F4C-7253-6FA2-BD5B0E0DECD4}"/>
              </a:ext>
            </a:extLst>
          </p:cNvPr>
          <p:cNvPicPr>
            <a:picLocks noChangeAspect="1"/>
          </p:cNvPicPr>
          <p:nvPr/>
        </p:nvPicPr>
        <p:blipFill>
          <a:blip r:embed="rId4"/>
          <a:stretch>
            <a:fillRect/>
          </a:stretch>
        </p:blipFill>
        <p:spPr>
          <a:xfrm>
            <a:off x="1111823" y="1349478"/>
            <a:ext cx="9076234" cy="5088192"/>
          </a:xfrm>
          <a:prstGeom prst="rect">
            <a:avLst/>
          </a:prstGeom>
        </p:spPr>
      </p:pic>
      <p:sp>
        <p:nvSpPr>
          <p:cNvPr id="9" name="TextBox 8">
            <a:extLst>
              <a:ext uri="{FF2B5EF4-FFF2-40B4-BE49-F238E27FC236}">
                <a16:creationId xmlns:a16="http://schemas.microsoft.com/office/drawing/2014/main" id="{6542FCD5-3C95-96A0-8267-F75FBFA4F96F}"/>
              </a:ext>
            </a:extLst>
          </p:cNvPr>
          <p:cNvSpPr txBox="1"/>
          <p:nvPr/>
        </p:nvSpPr>
        <p:spPr>
          <a:xfrm>
            <a:off x="8915400" y="1501877"/>
            <a:ext cx="896399" cy="400110"/>
          </a:xfrm>
          <a:prstGeom prst="rect">
            <a:avLst/>
          </a:prstGeom>
          <a:solidFill>
            <a:schemeClr val="bg1"/>
          </a:solidFill>
        </p:spPr>
        <p:txBody>
          <a:bodyPr wrap="square" rtlCol="0">
            <a:spAutoFit/>
          </a:bodyPr>
          <a:lstStyle/>
          <a:p>
            <a:r>
              <a:rPr lang="en-US" sz="2000" dirty="0"/>
              <a:t>output</a:t>
            </a:r>
          </a:p>
        </p:txBody>
      </p:sp>
      <p:sp>
        <p:nvSpPr>
          <p:cNvPr id="10" name="TextBox 9">
            <a:extLst>
              <a:ext uri="{FF2B5EF4-FFF2-40B4-BE49-F238E27FC236}">
                <a16:creationId xmlns:a16="http://schemas.microsoft.com/office/drawing/2014/main" id="{7ACF210A-A894-4FF6-1572-9D50F5983DA9}"/>
              </a:ext>
            </a:extLst>
          </p:cNvPr>
          <p:cNvSpPr txBox="1"/>
          <p:nvPr/>
        </p:nvSpPr>
        <p:spPr>
          <a:xfrm>
            <a:off x="8915399" y="3893574"/>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3305144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20748-B52E-A6A6-64A1-E3945DD0755A}"/>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CCFAC064-5C78-BD4F-06C2-24A5C9B30C36}"/>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FE332B2C-CEF6-0833-BD8A-20B13BC4070C}"/>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C7FE34ED-9E3E-B697-746C-12D46EB2EEB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B23DFFDA-A6A4-DB50-43CA-201E41A5C0CD}"/>
              </a:ext>
            </a:extLst>
          </p:cNvPr>
          <p:cNvSpPr>
            <a:spLocks noGrp="1"/>
          </p:cNvSpPr>
          <p:nvPr>
            <p:ph type="sldNum" sz="quarter" idx="12"/>
          </p:nvPr>
        </p:nvSpPr>
        <p:spPr/>
        <p:txBody>
          <a:bodyPr/>
          <a:lstStyle/>
          <a:p>
            <a:fld id="{D8010B01-9828-43F1-AE47-DA7183CEE7B6}" type="slidenum">
              <a:rPr lang="en-US" smtClean="0"/>
              <a:t>14</a:t>
            </a:fld>
            <a:endParaRPr lang="en-US"/>
          </a:p>
        </p:txBody>
      </p:sp>
      <p:pic>
        <p:nvPicPr>
          <p:cNvPr id="10" name="Picture 9">
            <a:extLst>
              <a:ext uri="{FF2B5EF4-FFF2-40B4-BE49-F238E27FC236}">
                <a16:creationId xmlns:a16="http://schemas.microsoft.com/office/drawing/2014/main" id="{5537EAD6-8B61-12D1-1535-CE801372520E}"/>
              </a:ext>
            </a:extLst>
          </p:cNvPr>
          <p:cNvPicPr>
            <a:picLocks noChangeAspect="1"/>
          </p:cNvPicPr>
          <p:nvPr/>
        </p:nvPicPr>
        <p:blipFill>
          <a:blip r:embed="rId4"/>
          <a:stretch>
            <a:fillRect/>
          </a:stretch>
        </p:blipFill>
        <p:spPr>
          <a:xfrm>
            <a:off x="1039117" y="1270453"/>
            <a:ext cx="9272745" cy="5096856"/>
          </a:xfrm>
          <a:prstGeom prst="rect">
            <a:avLst/>
          </a:prstGeom>
        </p:spPr>
      </p:pic>
      <p:sp>
        <p:nvSpPr>
          <p:cNvPr id="11" name="TextBox 10">
            <a:extLst>
              <a:ext uri="{FF2B5EF4-FFF2-40B4-BE49-F238E27FC236}">
                <a16:creationId xmlns:a16="http://schemas.microsoft.com/office/drawing/2014/main" id="{48C03290-2196-CD25-DB10-8433E6651E48}"/>
              </a:ext>
            </a:extLst>
          </p:cNvPr>
          <p:cNvSpPr txBox="1"/>
          <p:nvPr/>
        </p:nvSpPr>
        <p:spPr>
          <a:xfrm>
            <a:off x="9017000" y="1451428"/>
            <a:ext cx="896399" cy="400110"/>
          </a:xfrm>
          <a:prstGeom prst="rect">
            <a:avLst/>
          </a:prstGeom>
          <a:solidFill>
            <a:schemeClr val="bg1"/>
          </a:solidFill>
        </p:spPr>
        <p:txBody>
          <a:bodyPr wrap="square" rtlCol="0">
            <a:spAutoFit/>
          </a:bodyPr>
          <a:lstStyle/>
          <a:p>
            <a:r>
              <a:rPr lang="en-US" sz="2000" dirty="0"/>
              <a:t>output</a:t>
            </a:r>
          </a:p>
        </p:txBody>
      </p:sp>
      <p:sp>
        <p:nvSpPr>
          <p:cNvPr id="12" name="TextBox 11">
            <a:extLst>
              <a:ext uri="{FF2B5EF4-FFF2-40B4-BE49-F238E27FC236}">
                <a16:creationId xmlns:a16="http://schemas.microsoft.com/office/drawing/2014/main" id="{0977BFB9-2D71-BE0C-D63C-A8A6D5F16E84}"/>
              </a:ext>
            </a:extLst>
          </p:cNvPr>
          <p:cNvSpPr txBox="1"/>
          <p:nvPr/>
        </p:nvSpPr>
        <p:spPr>
          <a:xfrm>
            <a:off x="9017000" y="3888921"/>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1013692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05747-15F0-B034-6B1A-77AFC5557E8D}"/>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0C40E383-FADF-B8C0-C43D-0B4B872ED920}"/>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22660D63-A752-B7EE-7E11-98BE423F3DB5}"/>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E51FAEE9-7282-0436-0D7C-087859F3FC2F}"/>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3AEE1E69-05A0-6596-30B2-119906064885}"/>
              </a:ext>
            </a:extLst>
          </p:cNvPr>
          <p:cNvSpPr>
            <a:spLocks noGrp="1"/>
          </p:cNvSpPr>
          <p:nvPr>
            <p:ph type="sldNum" sz="quarter" idx="12"/>
          </p:nvPr>
        </p:nvSpPr>
        <p:spPr/>
        <p:txBody>
          <a:bodyPr/>
          <a:lstStyle/>
          <a:p>
            <a:fld id="{D8010B01-9828-43F1-AE47-DA7183CEE7B6}" type="slidenum">
              <a:rPr lang="en-US" smtClean="0"/>
              <a:t>15</a:t>
            </a:fld>
            <a:endParaRPr lang="en-US"/>
          </a:p>
        </p:txBody>
      </p:sp>
      <p:pic>
        <p:nvPicPr>
          <p:cNvPr id="4" name="Picture 3">
            <a:extLst>
              <a:ext uri="{FF2B5EF4-FFF2-40B4-BE49-F238E27FC236}">
                <a16:creationId xmlns:a16="http://schemas.microsoft.com/office/drawing/2014/main" id="{0DD7391B-636B-EA35-56B4-F27CA87BB8D5}"/>
              </a:ext>
            </a:extLst>
          </p:cNvPr>
          <p:cNvPicPr>
            <a:picLocks noChangeAspect="1"/>
          </p:cNvPicPr>
          <p:nvPr/>
        </p:nvPicPr>
        <p:blipFill>
          <a:blip r:embed="rId4"/>
          <a:stretch>
            <a:fillRect/>
          </a:stretch>
        </p:blipFill>
        <p:spPr>
          <a:xfrm>
            <a:off x="1134984" y="1330626"/>
            <a:ext cx="9031903" cy="4952187"/>
          </a:xfrm>
          <a:prstGeom prst="rect">
            <a:avLst/>
          </a:prstGeom>
        </p:spPr>
      </p:pic>
      <p:sp>
        <p:nvSpPr>
          <p:cNvPr id="8" name="TextBox 7">
            <a:extLst>
              <a:ext uri="{FF2B5EF4-FFF2-40B4-BE49-F238E27FC236}">
                <a16:creationId xmlns:a16="http://schemas.microsoft.com/office/drawing/2014/main" id="{14C67577-3EEA-59DE-6A90-8A626634CD80}"/>
              </a:ext>
            </a:extLst>
          </p:cNvPr>
          <p:cNvSpPr txBox="1"/>
          <p:nvPr/>
        </p:nvSpPr>
        <p:spPr>
          <a:xfrm>
            <a:off x="8871858" y="1480456"/>
            <a:ext cx="896399" cy="400110"/>
          </a:xfrm>
          <a:prstGeom prst="rect">
            <a:avLst/>
          </a:prstGeom>
          <a:solidFill>
            <a:schemeClr val="bg1"/>
          </a:solidFill>
        </p:spPr>
        <p:txBody>
          <a:bodyPr wrap="square" rtlCol="0">
            <a:spAutoFit/>
          </a:bodyPr>
          <a:lstStyle/>
          <a:p>
            <a:r>
              <a:rPr lang="en-US" sz="2000" dirty="0"/>
              <a:t>output</a:t>
            </a:r>
          </a:p>
        </p:txBody>
      </p:sp>
      <p:sp>
        <p:nvSpPr>
          <p:cNvPr id="9" name="TextBox 8">
            <a:extLst>
              <a:ext uri="{FF2B5EF4-FFF2-40B4-BE49-F238E27FC236}">
                <a16:creationId xmlns:a16="http://schemas.microsoft.com/office/drawing/2014/main" id="{D5E3822A-4AA1-FF68-9E0A-F8480737AC00}"/>
              </a:ext>
            </a:extLst>
          </p:cNvPr>
          <p:cNvSpPr txBox="1"/>
          <p:nvPr/>
        </p:nvSpPr>
        <p:spPr>
          <a:xfrm>
            <a:off x="8890001" y="3881634"/>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1954319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A7C96-0C94-95E9-79DB-95A6D599394A}"/>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F72982C8-93E4-8838-E4BA-179356F2484C}"/>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0A2E285E-AF62-AC04-06A5-C019D68502CB}"/>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794574E8-CBD2-103E-5FC5-E9AD991AE8BE}"/>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1B1BB078-6239-E5F6-51CA-06F9FDF81881}"/>
              </a:ext>
            </a:extLst>
          </p:cNvPr>
          <p:cNvSpPr>
            <a:spLocks noGrp="1"/>
          </p:cNvSpPr>
          <p:nvPr>
            <p:ph type="sldNum" sz="quarter" idx="12"/>
          </p:nvPr>
        </p:nvSpPr>
        <p:spPr/>
        <p:txBody>
          <a:bodyPr/>
          <a:lstStyle/>
          <a:p>
            <a:fld id="{D8010B01-9828-43F1-AE47-DA7183CEE7B6}" type="slidenum">
              <a:rPr lang="en-US" smtClean="0"/>
              <a:t>16</a:t>
            </a:fld>
            <a:endParaRPr lang="en-US"/>
          </a:p>
        </p:txBody>
      </p:sp>
      <p:pic>
        <p:nvPicPr>
          <p:cNvPr id="8" name="Picture 7">
            <a:extLst>
              <a:ext uri="{FF2B5EF4-FFF2-40B4-BE49-F238E27FC236}">
                <a16:creationId xmlns:a16="http://schemas.microsoft.com/office/drawing/2014/main" id="{1E2CB9CC-026C-BF7C-CD5C-9E30C1EC7353}"/>
              </a:ext>
            </a:extLst>
          </p:cNvPr>
          <p:cNvPicPr>
            <a:picLocks noChangeAspect="1"/>
          </p:cNvPicPr>
          <p:nvPr/>
        </p:nvPicPr>
        <p:blipFill>
          <a:blip r:embed="rId4"/>
          <a:stretch>
            <a:fillRect/>
          </a:stretch>
        </p:blipFill>
        <p:spPr>
          <a:xfrm>
            <a:off x="1208851" y="1240636"/>
            <a:ext cx="8878716" cy="5115714"/>
          </a:xfrm>
          <a:prstGeom prst="rect">
            <a:avLst/>
          </a:prstGeom>
        </p:spPr>
      </p:pic>
      <p:sp>
        <p:nvSpPr>
          <p:cNvPr id="9" name="TextBox 8">
            <a:extLst>
              <a:ext uri="{FF2B5EF4-FFF2-40B4-BE49-F238E27FC236}">
                <a16:creationId xmlns:a16="http://schemas.microsoft.com/office/drawing/2014/main" id="{CCAD315D-1E7B-25D6-44E5-AA1384361060}"/>
              </a:ext>
            </a:extLst>
          </p:cNvPr>
          <p:cNvSpPr txBox="1"/>
          <p:nvPr/>
        </p:nvSpPr>
        <p:spPr>
          <a:xfrm>
            <a:off x="8915400" y="1436913"/>
            <a:ext cx="896399" cy="400110"/>
          </a:xfrm>
          <a:prstGeom prst="rect">
            <a:avLst/>
          </a:prstGeom>
          <a:solidFill>
            <a:schemeClr val="bg1"/>
          </a:solidFill>
        </p:spPr>
        <p:txBody>
          <a:bodyPr wrap="square" rtlCol="0">
            <a:spAutoFit/>
          </a:bodyPr>
          <a:lstStyle/>
          <a:p>
            <a:r>
              <a:rPr lang="en-US" sz="2000" dirty="0"/>
              <a:t>output</a:t>
            </a:r>
          </a:p>
        </p:txBody>
      </p:sp>
      <p:sp>
        <p:nvSpPr>
          <p:cNvPr id="10" name="TextBox 9">
            <a:extLst>
              <a:ext uri="{FF2B5EF4-FFF2-40B4-BE49-F238E27FC236}">
                <a16:creationId xmlns:a16="http://schemas.microsoft.com/office/drawing/2014/main" id="{C5D803C8-F648-1884-48D3-B094F278B466}"/>
              </a:ext>
            </a:extLst>
          </p:cNvPr>
          <p:cNvSpPr txBox="1"/>
          <p:nvPr/>
        </p:nvSpPr>
        <p:spPr>
          <a:xfrm>
            <a:off x="8915399" y="3845377"/>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1502593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0523-77AA-A7CB-57C0-45D790CD6F02}"/>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1F227FAA-E7F8-3D78-B721-C26D119A66C0}"/>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B6F2DC69-9974-2DD8-E234-1FF575D58F24}"/>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D725C5FF-D6B9-E381-C5FF-D97B5E2A9674}"/>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AA92C4C6-9A29-889F-C0AB-45F2081C4385}"/>
              </a:ext>
            </a:extLst>
          </p:cNvPr>
          <p:cNvSpPr>
            <a:spLocks noGrp="1"/>
          </p:cNvSpPr>
          <p:nvPr>
            <p:ph type="sldNum" sz="quarter" idx="12"/>
          </p:nvPr>
        </p:nvSpPr>
        <p:spPr/>
        <p:txBody>
          <a:bodyPr/>
          <a:lstStyle/>
          <a:p>
            <a:fld id="{D8010B01-9828-43F1-AE47-DA7183CEE7B6}" type="slidenum">
              <a:rPr lang="en-US" smtClean="0"/>
              <a:t>17</a:t>
            </a:fld>
            <a:endParaRPr lang="en-US"/>
          </a:p>
        </p:txBody>
      </p:sp>
      <p:pic>
        <p:nvPicPr>
          <p:cNvPr id="8" name="Picture 7">
            <a:extLst>
              <a:ext uri="{FF2B5EF4-FFF2-40B4-BE49-F238E27FC236}">
                <a16:creationId xmlns:a16="http://schemas.microsoft.com/office/drawing/2014/main" id="{466493C7-E643-ACF5-31C1-06C57F537C26}"/>
              </a:ext>
            </a:extLst>
          </p:cNvPr>
          <p:cNvPicPr>
            <a:picLocks noChangeAspect="1"/>
          </p:cNvPicPr>
          <p:nvPr/>
        </p:nvPicPr>
        <p:blipFill>
          <a:blip r:embed="rId4"/>
          <a:stretch>
            <a:fillRect/>
          </a:stretch>
        </p:blipFill>
        <p:spPr>
          <a:xfrm>
            <a:off x="1208851" y="1240636"/>
            <a:ext cx="8878716" cy="5115714"/>
          </a:xfrm>
          <a:prstGeom prst="rect">
            <a:avLst/>
          </a:prstGeom>
        </p:spPr>
      </p:pic>
      <p:sp>
        <p:nvSpPr>
          <p:cNvPr id="11" name="TextBox 10">
            <a:extLst>
              <a:ext uri="{FF2B5EF4-FFF2-40B4-BE49-F238E27FC236}">
                <a16:creationId xmlns:a16="http://schemas.microsoft.com/office/drawing/2014/main" id="{E22B704D-EE24-BB19-7716-BA9B79BAFA86}"/>
              </a:ext>
            </a:extLst>
          </p:cNvPr>
          <p:cNvSpPr txBox="1"/>
          <p:nvPr/>
        </p:nvSpPr>
        <p:spPr>
          <a:xfrm>
            <a:off x="10023275" y="3123159"/>
            <a:ext cx="2168725" cy="1938992"/>
          </a:xfrm>
          <a:prstGeom prst="rect">
            <a:avLst/>
          </a:prstGeom>
          <a:noFill/>
        </p:spPr>
        <p:txBody>
          <a:bodyPr wrap="square" rtlCol="0">
            <a:spAutoFit/>
          </a:bodyPr>
          <a:lstStyle/>
          <a:p>
            <a:r>
              <a:rPr lang="en-US" sz="2400" dirty="0">
                <a:solidFill>
                  <a:srgbClr val="C00000"/>
                </a:solidFill>
              </a:rPr>
              <a:t>Question: Time and memory complexity without and with cache?</a:t>
            </a:r>
          </a:p>
        </p:txBody>
      </p:sp>
      <p:sp>
        <p:nvSpPr>
          <p:cNvPr id="12" name="TextBox 11">
            <a:extLst>
              <a:ext uri="{FF2B5EF4-FFF2-40B4-BE49-F238E27FC236}">
                <a16:creationId xmlns:a16="http://schemas.microsoft.com/office/drawing/2014/main" id="{FE784E44-6007-FD02-2C83-D403E4DF96AC}"/>
              </a:ext>
            </a:extLst>
          </p:cNvPr>
          <p:cNvSpPr txBox="1"/>
          <p:nvPr/>
        </p:nvSpPr>
        <p:spPr>
          <a:xfrm>
            <a:off x="8961272" y="1417565"/>
            <a:ext cx="896399" cy="400110"/>
          </a:xfrm>
          <a:prstGeom prst="rect">
            <a:avLst/>
          </a:prstGeom>
          <a:solidFill>
            <a:schemeClr val="bg1"/>
          </a:solidFill>
        </p:spPr>
        <p:txBody>
          <a:bodyPr wrap="square" rtlCol="0">
            <a:spAutoFit/>
          </a:bodyPr>
          <a:lstStyle/>
          <a:p>
            <a:r>
              <a:rPr lang="en-US" sz="2000" dirty="0"/>
              <a:t>output</a:t>
            </a:r>
          </a:p>
        </p:txBody>
      </p:sp>
      <p:sp>
        <p:nvSpPr>
          <p:cNvPr id="3" name="TextBox 2">
            <a:extLst>
              <a:ext uri="{FF2B5EF4-FFF2-40B4-BE49-F238E27FC236}">
                <a16:creationId xmlns:a16="http://schemas.microsoft.com/office/drawing/2014/main" id="{D53DC9F1-9B3D-BD20-775C-C979CA6413FF}"/>
              </a:ext>
            </a:extLst>
          </p:cNvPr>
          <p:cNvSpPr txBox="1"/>
          <p:nvPr/>
        </p:nvSpPr>
        <p:spPr>
          <a:xfrm>
            <a:off x="9533077" y="960298"/>
            <a:ext cx="2691580" cy="646331"/>
          </a:xfrm>
          <a:prstGeom prst="rect">
            <a:avLst/>
          </a:prstGeom>
          <a:noFill/>
        </p:spPr>
        <p:txBody>
          <a:bodyPr wrap="square" rtlCol="0">
            <a:spAutoFit/>
          </a:bodyPr>
          <a:lstStyle/>
          <a:p>
            <a:r>
              <a:rPr lang="en-US" dirty="0"/>
              <a:t>S: sequence length</a:t>
            </a:r>
          </a:p>
          <a:p>
            <a:r>
              <a:rPr lang="en-US" dirty="0"/>
              <a:t>H: model embedding size</a:t>
            </a:r>
          </a:p>
        </p:txBody>
      </p:sp>
      <p:sp>
        <p:nvSpPr>
          <p:cNvPr id="13" name="TextBox 12">
            <a:extLst>
              <a:ext uri="{FF2B5EF4-FFF2-40B4-BE49-F238E27FC236}">
                <a16:creationId xmlns:a16="http://schemas.microsoft.com/office/drawing/2014/main" id="{96D9E2A5-C170-B32F-0AE4-B5BB07A45DC6}"/>
              </a:ext>
            </a:extLst>
          </p:cNvPr>
          <p:cNvSpPr txBox="1"/>
          <p:nvPr/>
        </p:nvSpPr>
        <p:spPr>
          <a:xfrm>
            <a:off x="8818728" y="3855058"/>
            <a:ext cx="896399" cy="400110"/>
          </a:xfrm>
          <a:prstGeom prst="rect">
            <a:avLst/>
          </a:prstGeom>
          <a:solidFill>
            <a:schemeClr val="bg1"/>
          </a:solidFill>
        </p:spPr>
        <p:txBody>
          <a:bodyPr wrap="square" rtlCol="0">
            <a:spAutoFit/>
          </a:bodyPr>
          <a:lstStyle/>
          <a:p>
            <a:r>
              <a:rPr lang="en-US" sz="2000" dirty="0"/>
              <a:t>output</a:t>
            </a:r>
          </a:p>
        </p:txBody>
      </p:sp>
    </p:spTree>
    <p:extLst>
      <p:ext uri="{BB962C8B-B14F-4D97-AF65-F5344CB8AC3E}">
        <p14:creationId xmlns:p14="http://schemas.microsoft.com/office/powerpoint/2010/main" val="1271587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97994-60D0-0DBD-879E-742E638E3C76}"/>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017EB163-1FF3-FBB2-36D7-7BEE3F9E6452}"/>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78015152-7349-3C32-FBE6-859F5EDF8A18}"/>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A790835C-61AA-A6C2-22DA-C0ED0BB3CEA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04C4466A-F33E-4232-8AD5-6E35A84CE08C}"/>
              </a:ext>
            </a:extLst>
          </p:cNvPr>
          <p:cNvSpPr>
            <a:spLocks noGrp="1"/>
          </p:cNvSpPr>
          <p:nvPr>
            <p:ph type="sldNum" sz="quarter" idx="12"/>
          </p:nvPr>
        </p:nvSpPr>
        <p:spPr/>
        <p:txBody>
          <a:bodyPr/>
          <a:lstStyle/>
          <a:p>
            <a:fld id="{D8010B01-9828-43F1-AE47-DA7183CEE7B6}" type="slidenum">
              <a:rPr lang="en-US" smtClean="0"/>
              <a:t>18</a:t>
            </a:fld>
            <a:endParaRPr lang="en-US"/>
          </a:p>
        </p:txBody>
      </p:sp>
      <p:pic>
        <p:nvPicPr>
          <p:cNvPr id="8" name="Picture 7">
            <a:extLst>
              <a:ext uri="{FF2B5EF4-FFF2-40B4-BE49-F238E27FC236}">
                <a16:creationId xmlns:a16="http://schemas.microsoft.com/office/drawing/2014/main" id="{C9D3096B-9D6C-211E-64B2-EB6B5E4FD09A}"/>
              </a:ext>
            </a:extLst>
          </p:cNvPr>
          <p:cNvPicPr>
            <a:picLocks noChangeAspect="1"/>
          </p:cNvPicPr>
          <p:nvPr/>
        </p:nvPicPr>
        <p:blipFill>
          <a:blip r:embed="rId4"/>
          <a:stretch>
            <a:fillRect/>
          </a:stretch>
        </p:blipFill>
        <p:spPr>
          <a:xfrm>
            <a:off x="1208851" y="1240636"/>
            <a:ext cx="8878716" cy="5115714"/>
          </a:xfrm>
          <a:prstGeom prst="rect">
            <a:avLst/>
          </a:prstGeom>
        </p:spPr>
      </p:pic>
      <p:sp>
        <p:nvSpPr>
          <p:cNvPr id="4" name="TextBox 3">
            <a:extLst>
              <a:ext uri="{FF2B5EF4-FFF2-40B4-BE49-F238E27FC236}">
                <a16:creationId xmlns:a16="http://schemas.microsoft.com/office/drawing/2014/main" id="{1CCD6BAC-A75B-1F13-47E2-6113F9EDCDA9}"/>
              </a:ext>
            </a:extLst>
          </p:cNvPr>
          <p:cNvSpPr txBox="1"/>
          <p:nvPr/>
        </p:nvSpPr>
        <p:spPr>
          <a:xfrm>
            <a:off x="10250653" y="2533548"/>
            <a:ext cx="1687312" cy="369332"/>
          </a:xfrm>
          <a:prstGeom prst="rect">
            <a:avLst/>
          </a:prstGeom>
          <a:noFill/>
        </p:spPr>
        <p:txBody>
          <a:bodyPr wrap="square" rtlCol="0">
            <a:spAutoFit/>
          </a:bodyPr>
          <a:lstStyle/>
          <a:p>
            <a:r>
              <a:rPr lang="en-US" dirty="0"/>
              <a:t>O(S</a:t>
            </a:r>
            <a:r>
              <a:rPr lang="en-US" baseline="30000" dirty="0"/>
              <a:t>2</a:t>
            </a:r>
            <a:r>
              <a:rPr lang="en-US" dirty="0"/>
              <a:t>H) Time</a:t>
            </a:r>
          </a:p>
        </p:txBody>
      </p:sp>
      <p:sp>
        <p:nvSpPr>
          <p:cNvPr id="11" name="TextBox 10">
            <a:extLst>
              <a:ext uri="{FF2B5EF4-FFF2-40B4-BE49-F238E27FC236}">
                <a16:creationId xmlns:a16="http://schemas.microsoft.com/office/drawing/2014/main" id="{22B7B731-71CF-5B46-89C0-58D205062EF0}"/>
              </a:ext>
            </a:extLst>
          </p:cNvPr>
          <p:cNvSpPr txBox="1"/>
          <p:nvPr/>
        </p:nvSpPr>
        <p:spPr>
          <a:xfrm>
            <a:off x="8857169" y="1417565"/>
            <a:ext cx="896399" cy="400110"/>
          </a:xfrm>
          <a:prstGeom prst="rect">
            <a:avLst/>
          </a:prstGeom>
          <a:solidFill>
            <a:schemeClr val="bg1"/>
          </a:solidFill>
        </p:spPr>
        <p:txBody>
          <a:bodyPr wrap="square" rtlCol="0">
            <a:spAutoFit/>
          </a:bodyPr>
          <a:lstStyle/>
          <a:p>
            <a:r>
              <a:rPr lang="en-US" sz="2000" dirty="0"/>
              <a:t>output</a:t>
            </a:r>
          </a:p>
        </p:txBody>
      </p:sp>
      <p:sp>
        <p:nvSpPr>
          <p:cNvPr id="12" name="TextBox 11">
            <a:extLst>
              <a:ext uri="{FF2B5EF4-FFF2-40B4-BE49-F238E27FC236}">
                <a16:creationId xmlns:a16="http://schemas.microsoft.com/office/drawing/2014/main" id="{6D4E530E-DC65-77E9-BCDA-35077709C106}"/>
              </a:ext>
            </a:extLst>
          </p:cNvPr>
          <p:cNvSpPr txBox="1"/>
          <p:nvPr/>
        </p:nvSpPr>
        <p:spPr>
          <a:xfrm>
            <a:off x="8933369" y="3798493"/>
            <a:ext cx="896399" cy="400110"/>
          </a:xfrm>
          <a:prstGeom prst="rect">
            <a:avLst/>
          </a:prstGeom>
          <a:solidFill>
            <a:schemeClr val="bg1"/>
          </a:solidFill>
        </p:spPr>
        <p:txBody>
          <a:bodyPr wrap="square" rtlCol="0">
            <a:spAutoFit/>
          </a:bodyPr>
          <a:lstStyle/>
          <a:p>
            <a:r>
              <a:rPr lang="en-US" sz="2000" dirty="0"/>
              <a:t>output</a:t>
            </a:r>
          </a:p>
        </p:txBody>
      </p:sp>
      <p:sp>
        <p:nvSpPr>
          <p:cNvPr id="3" name="TextBox 2">
            <a:extLst>
              <a:ext uri="{FF2B5EF4-FFF2-40B4-BE49-F238E27FC236}">
                <a16:creationId xmlns:a16="http://schemas.microsoft.com/office/drawing/2014/main" id="{239FED32-3A71-56D3-3481-0B2FD9280D36}"/>
              </a:ext>
            </a:extLst>
          </p:cNvPr>
          <p:cNvSpPr txBox="1"/>
          <p:nvPr/>
        </p:nvSpPr>
        <p:spPr>
          <a:xfrm>
            <a:off x="9637359" y="969483"/>
            <a:ext cx="2691580" cy="646331"/>
          </a:xfrm>
          <a:prstGeom prst="rect">
            <a:avLst/>
          </a:prstGeom>
          <a:noFill/>
        </p:spPr>
        <p:txBody>
          <a:bodyPr wrap="square" rtlCol="0">
            <a:spAutoFit/>
          </a:bodyPr>
          <a:lstStyle/>
          <a:p>
            <a:r>
              <a:rPr lang="en-US" dirty="0"/>
              <a:t>S: sequence length</a:t>
            </a:r>
          </a:p>
          <a:p>
            <a:r>
              <a:rPr lang="en-US" dirty="0"/>
              <a:t>H: model embedding size</a:t>
            </a:r>
          </a:p>
        </p:txBody>
      </p:sp>
    </p:spTree>
    <p:extLst>
      <p:ext uri="{BB962C8B-B14F-4D97-AF65-F5344CB8AC3E}">
        <p14:creationId xmlns:p14="http://schemas.microsoft.com/office/powerpoint/2010/main" val="948971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63CC6-2EE8-C90B-1C09-6B1D2A276B51}"/>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1B0C605A-CC42-340F-4438-87D7AAD94636}"/>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F4DC3CC1-F67A-CE0D-E06F-8A36BC0C1949}"/>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Self-Attention with 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BD1B5299-A236-516D-5534-6CBAC0353707}"/>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C6D8FE64-0F87-C4F6-6D36-50D5059BCE57}"/>
              </a:ext>
            </a:extLst>
          </p:cNvPr>
          <p:cNvSpPr>
            <a:spLocks noGrp="1"/>
          </p:cNvSpPr>
          <p:nvPr>
            <p:ph type="sldNum" sz="quarter" idx="12"/>
          </p:nvPr>
        </p:nvSpPr>
        <p:spPr/>
        <p:txBody>
          <a:bodyPr/>
          <a:lstStyle/>
          <a:p>
            <a:fld id="{D8010B01-9828-43F1-AE47-DA7183CEE7B6}" type="slidenum">
              <a:rPr lang="en-US" smtClean="0"/>
              <a:t>19</a:t>
            </a:fld>
            <a:endParaRPr lang="en-US"/>
          </a:p>
        </p:txBody>
      </p:sp>
      <p:pic>
        <p:nvPicPr>
          <p:cNvPr id="8" name="Picture 7">
            <a:extLst>
              <a:ext uri="{FF2B5EF4-FFF2-40B4-BE49-F238E27FC236}">
                <a16:creationId xmlns:a16="http://schemas.microsoft.com/office/drawing/2014/main" id="{A8F835F7-C82E-FEEF-FD6F-DBE9113ABBEB}"/>
              </a:ext>
            </a:extLst>
          </p:cNvPr>
          <p:cNvPicPr>
            <a:picLocks noChangeAspect="1"/>
          </p:cNvPicPr>
          <p:nvPr/>
        </p:nvPicPr>
        <p:blipFill>
          <a:blip r:embed="rId4"/>
          <a:stretch>
            <a:fillRect/>
          </a:stretch>
        </p:blipFill>
        <p:spPr>
          <a:xfrm>
            <a:off x="1208851" y="1240636"/>
            <a:ext cx="8878716" cy="5115714"/>
          </a:xfrm>
          <a:prstGeom prst="rect">
            <a:avLst/>
          </a:prstGeom>
        </p:spPr>
      </p:pic>
      <p:sp>
        <p:nvSpPr>
          <p:cNvPr id="4" name="TextBox 3">
            <a:extLst>
              <a:ext uri="{FF2B5EF4-FFF2-40B4-BE49-F238E27FC236}">
                <a16:creationId xmlns:a16="http://schemas.microsoft.com/office/drawing/2014/main" id="{53BB695D-02DC-444F-5F09-DD20F0C6379F}"/>
              </a:ext>
            </a:extLst>
          </p:cNvPr>
          <p:cNvSpPr txBox="1"/>
          <p:nvPr/>
        </p:nvSpPr>
        <p:spPr>
          <a:xfrm>
            <a:off x="10250653" y="2533548"/>
            <a:ext cx="1687312" cy="369332"/>
          </a:xfrm>
          <a:prstGeom prst="rect">
            <a:avLst/>
          </a:prstGeom>
          <a:noFill/>
        </p:spPr>
        <p:txBody>
          <a:bodyPr wrap="square" rtlCol="0">
            <a:spAutoFit/>
          </a:bodyPr>
          <a:lstStyle/>
          <a:p>
            <a:r>
              <a:rPr lang="en-US" dirty="0"/>
              <a:t>O(S</a:t>
            </a:r>
            <a:r>
              <a:rPr lang="en-US" baseline="30000" dirty="0"/>
              <a:t>2</a:t>
            </a:r>
            <a:r>
              <a:rPr lang="en-US" dirty="0"/>
              <a:t>H) Time</a:t>
            </a:r>
          </a:p>
        </p:txBody>
      </p:sp>
      <p:sp>
        <p:nvSpPr>
          <p:cNvPr id="11" name="TextBox 10">
            <a:extLst>
              <a:ext uri="{FF2B5EF4-FFF2-40B4-BE49-F238E27FC236}">
                <a16:creationId xmlns:a16="http://schemas.microsoft.com/office/drawing/2014/main" id="{360CF456-9085-D7B3-DCA9-01C7E428B613}"/>
              </a:ext>
            </a:extLst>
          </p:cNvPr>
          <p:cNvSpPr txBox="1"/>
          <p:nvPr/>
        </p:nvSpPr>
        <p:spPr>
          <a:xfrm>
            <a:off x="8857169" y="1417565"/>
            <a:ext cx="896399" cy="400110"/>
          </a:xfrm>
          <a:prstGeom prst="rect">
            <a:avLst/>
          </a:prstGeom>
          <a:solidFill>
            <a:schemeClr val="bg1"/>
          </a:solidFill>
        </p:spPr>
        <p:txBody>
          <a:bodyPr wrap="square" rtlCol="0">
            <a:spAutoFit/>
          </a:bodyPr>
          <a:lstStyle/>
          <a:p>
            <a:r>
              <a:rPr lang="en-US" sz="2000" dirty="0"/>
              <a:t>output</a:t>
            </a:r>
          </a:p>
        </p:txBody>
      </p:sp>
      <p:sp>
        <p:nvSpPr>
          <p:cNvPr id="12" name="TextBox 11">
            <a:extLst>
              <a:ext uri="{FF2B5EF4-FFF2-40B4-BE49-F238E27FC236}">
                <a16:creationId xmlns:a16="http://schemas.microsoft.com/office/drawing/2014/main" id="{ED247D2F-6A3E-682E-0BC2-22E79CF43418}"/>
              </a:ext>
            </a:extLst>
          </p:cNvPr>
          <p:cNvSpPr txBox="1"/>
          <p:nvPr/>
        </p:nvSpPr>
        <p:spPr>
          <a:xfrm>
            <a:off x="8933369" y="3798493"/>
            <a:ext cx="896399" cy="400110"/>
          </a:xfrm>
          <a:prstGeom prst="rect">
            <a:avLst/>
          </a:prstGeom>
          <a:solidFill>
            <a:schemeClr val="bg1"/>
          </a:solidFill>
        </p:spPr>
        <p:txBody>
          <a:bodyPr wrap="square" rtlCol="0">
            <a:spAutoFit/>
          </a:bodyPr>
          <a:lstStyle/>
          <a:p>
            <a:r>
              <a:rPr lang="en-US" sz="2000" dirty="0"/>
              <a:t>output</a:t>
            </a:r>
          </a:p>
        </p:txBody>
      </p:sp>
      <p:sp>
        <p:nvSpPr>
          <p:cNvPr id="3" name="TextBox 2">
            <a:extLst>
              <a:ext uri="{FF2B5EF4-FFF2-40B4-BE49-F238E27FC236}">
                <a16:creationId xmlns:a16="http://schemas.microsoft.com/office/drawing/2014/main" id="{7D2A3AC2-D471-D622-DC83-2E6D48238B1A}"/>
              </a:ext>
            </a:extLst>
          </p:cNvPr>
          <p:cNvSpPr txBox="1"/>
          <p:nvPr/>
        </p:nvSpPr>
        <p:spPr>
          <a:xfrm>
            <a:off x="9637359" y="969483"/>
            <a:ext cx="2691580" cy="646331"/>
          </a:xfrm>
          <a:prstGeom prst="rect">
            <a:avLst/>
          </a:prstGeom>
          <a:noFill/>
        </p:spPr>
        <p:txBody>
          <a:bodyPr wrap="square" rtlCol="0">
            <a:spAutoFit/>
          </a:bodyPr>
          <a:lstStyle/>
          <a:p>
            <a:r>
              <a:rPr lang="en-US" dirty="0"/>
              <a:t>S: sequence length</a:t>
            </a:r>
          </a:p>
          <a:p>
            <a:r>
              <a:rPr lang="en-US" dirty="0"/>
              <a:t>H: model embedding size</a:t>
            </a:r>
          </a:p>
        </p:txBody>
      </p:sp>
      <p:sp>
        <p:nvSpPr>
          <p:cNvPr id="9" name="TextBox 8">
            <a:extLst>
              <a:ext uri="{FF2B5EF4-FFF2-40B4-BE49-F238E27FC236}">
                <a16:creationId xmlns:a16="http://schemas.microsoft.com/office/drawing/2014/main" id="{86BA6A33-76E7-9C6F-D97E-B98C9E44A108}"/>
              </a:ext>
            </a:extLst>
          </p:cNvPr>
          <p:cNvSpPr txBox="1"/>
          <p:nvPr/>
        </p:nvSpPr>
        <p:spPr>
          <a:xfrm>
            <a:off x="10250653" y="4268230"/>
            <a:ext cx="1687312" cy="369332"/>
          </a:xfrm>
          <a:prstGeom prst="rect">
            <a:avLst/>
          </a:prstGeom>
          <a:noFill/>
        </p:spPr>
        <p:txBody>
          <a:bodyPr wrap="square" rtlCol="0">
            <a:spAutoFit/>
          </a:bodyPr>
          <a:lstStyle/>
          <a:p>
            <a:r>
              <a:rPr lang="en-US" dirty="0"/>
              <a:t>O(SH)Time</a:t>
            </a:r>
          </a:p>
        </p:txBody>
      </p:sp>
      <p:sp>
        <p:nvSpPr>
          <p:cNvPr id="10" name="TextBox 9">
            <a:extLst>
              <a:ext uri="{FF2B5EF4-FFF2-40B4-BE49-F238E27FC236}">
                <a16:creationId xmlns:a16="http://schemas.microsoft.com/office/drawing/2014/main" id="{B9E7CD21-4E48-A1EE-727B-4C577CA4FA45}"/>
              </a:ext>
            </a:extLst>
          </p:cNvPr>
          <p:cNvSpPr txBox="1"/>
          <p:nvPr/>
        </p:nvSpPr>
        <p:spPr>
          <a:xfrm>
            <a:off x="10250653" y="4811462"/>
            <a:ext cx="1687312" cy="369332"/>
          </a:xfrm>
          <a:prstGeom prst="rect">
            <a:avLst/>
          </a:prstGeom>
          <a:noFill/>
        </p:spPr>
        <p:txBody>
          <a:bodyPr wrap="square" rtlCol="0">
            <a:spAutoFit/>
          </a:bodyPr>
          <a:lstStyle/>
          <a:p>
            <a:r>
              <a:rPr lang="en-US" dirty="0"/>
              <a:t>O(SH) Memory</a:t>
            </a:r>
          </a:p>
        </p:txBody>
      </p:sp>
    </p:spTree>
    <p:extLst>
      <p:ext uri="{BB962C8B-B14F-4D97-AF65-F5344CB8AC3E}">
        <p14:creationId xmlns:p14="http://schemas.microsoft.com/office/powerpoint/2010/main" val="469676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E97D-3E6D-B93F-BF87-7A965D5C5C9C}"/>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4F012FBD-3026-EBC7-0F31-76E777FA3BA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5E1E64D1-E8D6-12A4-B642-0E03F00D4E6D}"/>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Inference Challenge: Large Memory Increases Cost</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9D014145-336A-1589-7860-2E3ECB798094}"/>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Content Placeholder 2">
            <a:extLst>
              <a:ext uri="{FF2B5EF4-FFF2-40B4-BE49-F238E27FC236}">
                <a16:creationId xmlns:a16="http://schemas.microsoft.com/office/drawing/2014/main" id="{58DAA896-D5C7-B3B9-F584-D4759BF879BB}"/>
              </a:ext>
            </a:extLst>
          </p:cNvPr>
          <p:cNvSpPr>
            <a:spLocks noGrp="1"/>
          </p:cNvSpPr>
          <p:nvPr>
            <p:ph idx="1"/>
          </p:nvPr>
        </p:nvSpPr>
        <p:spPr>
          <a:xfrm>
            <a:off x="735821" y="1951036"/>
            <a:ext cx="5111914" cy="3948113"/>
          </a:xfrm>
        </p:spPr>
        <p:txBody>
          <a:bodyPr>
            <a:normAutofit/>
          </a:bodyPr>
          <a:lstStyle/>
          <a:p>
            <a:r>
              <a:rPr lang="en-US" dirty="0"/>
              <a:t>KV cache</a:t>
            </a:r>
          </a:p>
          <a:p>
            <a:pPr lvl="1"/>
            <a:r>
              <a:rPr lang="en-US" dirty="0"/>
              <a:t>Sequence length</a:t>
            </a:r>
          </a:p>
          <a:p>
            <a:pPr lvl="1"/>
            <a:r>
              <a:rPr lang="en-US" dirty="0"/>
              <a:t># Hidden</a:t>
            </a:r>
          </a:p>
          <a:p>
            <a:pPr lvl="1"/>
            <a:r>
              <a:rPr lang="en-US" dirty="0"/>
              <a:t># Layers</a:t>
            </a:r>
          </a:p>
          <a:p>
            <a:pPr lvl="1"/>
            <a:r>
              <a:rPr lang="en-US" dirty="0"/>
              <a:t>Batch size</a:t>
            </a:r>
          </a:p>
          <a:p>
            <a:pPr lvl="1"/>
            <a:endParaRPr lang="en-US" dirty="0"/>
          </a:p>
          <a:p>
            <a:endParaRPr lang="en-US" dirty="0"/>
          </a:p>
          <a:p>
            <a:endParaRPr lang="en-US" dirty="0"/>
          </a:p>
        </p:txBody>
      </p:sp>
      <p:pic>
        <p:nvPicPr>
          <p:cNvPr id="3" name="Picture 2">
            <a:extLst>
              <a:ext uri="{FF2B5EF4-FFF2-40B4-BE49-F238E27FC236}">
                <a16:creationId xmlns:a16="http://schemas.microsoft.com/office/drawing/2014/main" id="{C5C62FB2-273E-4EA7-DB64-481D837CE63E}"/>
              </a:ext>
            </a:extLst>
          </p:cNvPr>
          <p:cNvPicPr>
            <a:picLocks noChangeAspect="1"/>
          </p:cNvPicPr>
          <p:nvPr/>
        </p:nvPicPr>
        <p:blipFill>
          <a:blip r:embed="rId4"/>
          <a:stretch>
            <a:fillRect/>
          </a:stretch>
        </p:blipFill>
        <p:spPr>
          <a:xfrm>
            <a:off x="6096000" y="1592262"/>
            <a:ext cx="4709734" cy="3673475"/>
          </a:xfrm>
          <a:prstGeom prst="rect">
            <a:avLst/>
          </a:prstGeom>
        </p:spPr>
      </p:pic>
      <p:sp>
        <p:nvSpPr>
          <p:cNvPr id="48" name="TextBox 47">
            <a:extLst>
              <a:ext uri="{FF2B5EF4-FFF2-40B4-BE49-F238E27FC236}">
                <a16:creationId xmlns:a16="http://schemas.microsoft.com/office/drawing/2014/main" id="{2C76746E-8AF2-CC60-EBF9-3BB94C3DEA9A}"/>
              </a:ext>
            </a:extLst>
          </p:cNvPr>
          <p:cNvSpPr txBox="1"/>
          <p:nvPr/>
        </p:nvSpPr>
        <p:spPr>
          <a:xfrm>
            <a:off x="6879446" y="5262046"/>
            <a:ext cx="2694969" cy="369332"/>
          </a:xfrm>
          <a:prstGeom prst="rect">
            <a:avLst/>
          </a:prstGeom>
          <a:noFill/>
        </p:spPr>
        <p:txBody>
          <a:bodyPr wrap="none" rtlCol="0">
            <a:spAutoFit/>
          </a:bodyPr>
          <a:lstStyle/>
          <a:p>
            <a:r>
              <a:rPr lang="en-US" dirty="0"/>
              <a:t>LLaMA-13B on A100 40 GB</a:t>
            </a:r>
          </a:p>
        </p:txBody>
      </p:sp>
      <p:sp>
        <p:nvSpPr>
          <p:cNvPr id="49" name="Slide Number Placeholder 48">
            <a:extLst>
              <a:ext uri="{FF2B5EF4-FFF2-40B4-BE49-F238E27FC236}">
                <a16:creationId xmlns:a16="http://schemas.microsoft.com/office/drawing/2014/main" id="{4EBF33C3-D569-5EBB-328A-08B0D85C9F94}"/>
              </a:ext>
            </a:extLst>
          </p:cNvPr>
          <p:cNvSpPr>
            <a:spLocks noGrp="1"/>
          </p:cNvSpPr>
          <p:nvPr>
            <p:ph type="sldNum" sz="quarter" idx="12"/>
          </p:nvPr>
        </p:nvSpPr>
        <p:spPr/>
        <p:txBody>
          <a:bodyPr/>
          <a:lstStyle/>
          <a:p>
            <a:fld id="{D8010B01-9828-43F1-AE47-DA7183CEE7B6}" type="slidenum">
              <a:rPr lang="en-US" smtClean="0"/>
              <a:t>20</a:t>
            </a:fld>
            <a:endParaRPr lang="en-US"/>
          </a:p>
        </p:txBody>
      </p:sp>
    </p:spTree>
    <p:extLst>
      <p:ext uri="{BB962C8B-B14F-4D97-AF65-F5344CB8AC3E}">
        <p14:creationId xmlns:p14="http://schemas.microsoft.com/office/powerpoint/2010/main" val="1639043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43972-3116-F994-ECFF-CC986BC8409F}"/>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B2A7C820-0E22-28FC-A209-CED0313BC53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EDDCE7DB-CD55-9EE4-38CD-283A9E4C3033}"/>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Inference Challenge: Large Memory Increases Cost</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B271CDBC-74A7-AD97-FBE8-6D011CC1DDEE}"/>
              </a:ext>
            </a:extLst>
          </p:cNvPr>
          <p:cNvPicPr>
            <a:picLocks noChangeAspect="1"/>
          </p:cNvPicPr>
          <p:nvPr/>
        </p:nvPicPr>
        <p:blipFill>
          <a:blip r:embed="rId3"/>
          <a:stretch>
            <a:fillRect/>
          </a:stretch>
        </p:blipFill>
        <p:spPr>
          <a:xfrm>
            <a:off x="11557509" y="233819"/>
            <a:ext cx="271308" cy="389810"/>
          </a:xfrm>
          <a:prstGeom prst="rect">
            <a:avLst/>
          </a:prstGeom>
        </p:spPr>
      </p:pic>
      <p:pic>
        <p:nvPicPr>
          <p:cNvPr id="3" name="Picture 2">
            <a:extLst>
              <a:ext uri="{FF2B5EF4-FFF2-40B4-BE49-F238E27FC236}">
                <a16:creationId xmlns:a16="http://schemas.microsoft.com/office/drawing/2014/main" id="{5CD2B761-F914-02A9-BAF9-9394108810F5}"/>
              </a:ext>
            </a:extLst>
          </p:cNvPr>
          <p:cNvPicPr>
            <a:picLocks noChangeAspect="1"/>
          </p:cNvPicPr>
          <p:nvPr/>
        </p:nvPicPr>
        <p:blipFill>
          <a:blip r:embed="rId4"/>
          <a:stretch>
            <a:fillRect/>
          </a:stretch>
        </p:blipFill>
        <p:spPr>
          <a:xfrm>
            <a:off x="6096000" y="1592262"/>
            <a:ext cx="4709734" cy="3673475"/>
          </a:xfrm>
          <a:prstGeom prst="rect">
            <a:avLst/>
          </a:prstGeom>
        </p:spPr>
      </p:pic>
      <p:sp>
        <p:nvSpPr>
          <p:cNvPr id="48" name="TextBox 47">
            <a:extLst>
              <a:ext uri="{FF2B5EF4-FFF2-40B4-BE49-F238E27FC236}">
                <a16:creationId xmlns:a16="http://schemas.microsoft.com/office/drawing/2014/main" id="{22BA5725-01B4-0327-5553-253EE462249E}"/>
              </a:ext>
            </a:extLst>
          </p:cNvPr>
          <p:cNvSpPr txBox="1"/>
          <p:nvPr/>
        </p:nvSpPr>
        <p:spPr>
          <a:xfrm>
            <a:off x="6879446" y="5262046"/>
            <a:ext cx="2694969" cy="369332"/>
          </a:xfrm>
          <a:prstGeom prst="rect">
            <a:avLst/>
          </a:prstGeom>
          <a:noFill/>
        </p:spPr>
        <p:txBody>
          <a:bodyPr wrap="none" rtlCol="0">
            <a:spAutoFit/>
          </a:bodyPr>
          <a:lstStyle/>
          <a:p>
            <a:r>
              <a:rPr lang="en-US" dirty="0"/>
              <a:t>LLaMA-13B on A100 40 GB</a:t>
            </a:r>
          </a:p>
        </p:txBody>
      </p:sp>
      <p:sp>
        <p:nvSpPr>
          <p:cNvPr id="49" name="Slide Number Placeholder 48">
            <a:extLst>
              <a:ext uri="{FF2B5EF4-FFF2-40B4-BE49-F238E27FC236}">
                <a16:creationId xmlns:a16="http://schemas.microsoft.com/office/drawing/2014/main" id="{F6FBA28B-1F2B-014B-F39B-BE2072A98F33}"/>
              </a:ext>
            </a:extLst>
          </p:cNvPr>
          <p:cNvSpPr>
            <a:spLocks noGrp="1"/>
          </p:cNvSpPr>
          <p:nvPr>
            <p:ph type="sldNum" sz="quarter" idx="12"/>
          </p:nvPr>
        </p:nvSpPr>
        <p:spPr/>
        <p:txBody>
          <a:bodyPr/>
          <a:lstStyle/>
          <a:p>
            <a:fld id="{D8010B01-9828-43F1-AE47-DA7183CEE7B6}" type="slidenum">
              <a:rPr lang="en-US" smtClean="0"/>
              <a:t>21</a:t>
            </a:fld>
            <a:endParaRPr lang="en-US"/>
          </a:p>
        </p:txBody>
      </p:sp>
      <p:sp>
        <p:nvSpPr>
          <p:cNvPr id="8" name="TextBox 7">
            <a:extLst>
              <a:ext uri="{FF2B5EF4-FFF2-40B4-BE49-F238E27FC236}">
                <a16:creationId xmlns:a16="http://schemas.microsoft.com/office/drawing/2014/main" id="{6F1315F7-671E-2D92-BD1A-EE3EA255B8E7}"/>
              </a:ext>
            </a:extLst>
          </p:cNvPr>
          <p:cNvSpPr txBox="1"/>
          <p:nvPr/>
        </p:nvSpPr>
        <p:spPr>
          <a:xfrm>
            <a:off x="735820" y="4661882"/>
            <a:ext cx="5098923" cy="1569660"/>
          </a:xfrm>
          <a:prstGeom prst="rect">
            <a:avLst/>
          </a:prstGeom>
          <a:noFill/>
        </p:spPr>
        <p:txBody>
          <a:bodyPr wrap="square">
            <a:spAutoFit/>
          </a:bodyPr>
          <a:lstStyle/>
          <a:p>
            <a:r>
              <a:rPr lang="en-US" sz="2400" dirty="0">
                <a:solidFill>
                  <a:srgbClr val="C00000"/>
                </a:solidFill>
              </a:rPr>
              <a:t>How about we allocate some contiguous memory per request: </a:t>
            </a:r>
            <a:br>
              <a:rPr lang="en-US" sz="2400" dirty="0">
                <a:solidFill>
                  <a:srgbClr val="C00000"/>
                </a:solidFill>
              </a:rPr>
            </a:br>
            <a:r>
              <a:rPr lang="en-US" sz="2400" dirty="0">
                <a:solidFill>
                  <a:srgbClr val="C00000"/>
                </a:solidFill>
              </a:rPr>
              <a:t>max-seq-</a:t>
            </a:r>
            <a:r>
              <a:rPr lang="en-US" sz="2400" dirty="0" err="1">
                <a:solidFill>
                  <a:srgbClr val="C00000"/>
                </a:solidFill>
              </a:rPr>
              <a:t>len</a:t>
            </a:r>
            <a:r>
              <a:rPr lang="en-US" sz="2400" dirty="0">
                <a:solidFill>
                  <a:srgbClr val="C00000"/>
                </a:solidFill>
              </a:rPr>
              <a:t> * hidden-dim * num-layers?</a:t>
            </a:r>
          </a:p>
        </p:txBody>
      </p:sp>
      <p:sp>
        <p:nvSpPr>
          <p:cNvPr id="10" name="Content Placeholder 2">
            <a:extLst>
              <a:ext uri="{FF2B5EF4-FFF2-40B4-BE49-F238E27FC236}">
                <a16:creationId xmlns:a16="http://schemas.microsoft.com/office/drawing/2014/main" id="{8DC3F010-162A-12C9-55F4-5B08B49AA85B}"/>
              </a:ext>
            </a:extLst>
          </p:cNvPr>
          <p:cNvSpPr txBox="1">
            <a:spLocks/>
          </p:cNvSpPr>
          <p:nvPr/>
        </p:nvSpPr>
        <p:spPr bwMode="auto">
          <a:xfrm>
            <a:off x="735820" y="1951037"/>
            <a:ext cx="5360179"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KV cache</a:t>
            </a:r>
          </a:p>
          <a:p>
            <a:pPr lvl="1"/>
            <a:r>
              <a:rPr lang="en-US" dirty="0"/>
              <a:t>Sequence length</a:t>
            </a:r>
          </a:p>
          <a:p>
            <a:pPr lvl="1"/>
            <a:r>
              <a:rPr lang="en-US" dirty="0"/>
              <a:t># Hidden</a:t>
            </a:r>
          </a:p>
          <a:p>
            <a:pPr lvl="1"/>
            <a:r>
              <a:rPr lang="en-US" dirty="0"/>
              <a:t># Layers</a:t>
            </a:r>
          </a:p>
          <a:p>
            <a:pPr lvl="1"/>
            <a:r>
              <a:rPr lang="en-US" dirty="0"/>
              <a:t>Batch size</a:t>
            </a:r>
          </a:p>
          <a:p>
            <a:pPr lvl="1"/>
            <a:endParaRPr lang="en-US" dirty="0"/>
          </a:p>
          <a:p>
            <a:endParaRPr lang="en-US" dirty="0"/>
          </a:p>
          <a:p>
            <a:endParaRPr lang="en-US" dirty="0"/>
          </a:p>
        </p:txBody>
      </p:sp>
    </p:spTree>
    <p:extLst>
      <p:ext uri="{BB962C8B-B14F-4D97-AF65-F5344CB8AC3E}">
        <p14:creationId xmlns:p14="http://schemas.microsoft.com/office/powerpoint/2010/main" val="2511765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2DEFE-7F9A-B740-77EC-0A83760AD54F}"/>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7228E476-42CA-3636-81E8-F3F17700F274}"/>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143A3EB9-A538-5735-779E-A2201CE8F327}"/>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Motivation: Memory Wast</a:t>
            </a:r>
            <a:r>
              <a:rPr lang="en-US" sz="3200" dirty="0">
                <a:solidFill>
                  <a:schemeClr val="lt1"/>
                </a:solidFill>
                <a:latin typeface="+mn-lt"/>
                <a:ea typeface="Helvetica Neue Light"/>
                <a:cs typeface="Helvetica Neue Light"/>
                <a:sym typeface="Helvetica Neue Light"/>
              </a:rPr>
              <a:t>e in KV Cache</a:t>
            </a:r>
          </a:p>
        </p:txBody>
      </p:sp>
      <p:pic>
        <p:nvPicPr>
          <p:cNvPr id="7" name="Picture 6">
            <a:extLst>
              <a:ext uri="{FF2B5EF4-FFF2-40B4-BE49-F238E27FC236}">
                <a16:creationId xmlns:a16="http://schemas.microsoft.com/office/drawing/2014/main" id="{FD9AA012-CCF7-26A4-0A66-88D663C98E0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6EA41F80-F439-92C3-C3DB-720AAB4E6628}"/>
              </a:ext>
            </a:extLst>
          </p:cNvPr>
          <p:cNvSpPr>
            <a:spLocks noGrp="1"/>
          </p:cNvSpPr>
          <p:nvPr>
            <p:ph type="sldNum" sz="quarter" idx="12"/>
          </p:nvPr>
        </p:nvSpPr>
        <p:spPr/>
        <p:txBody>
          <a:bodyPr/>
          <a:lstStyle/>
          <a:p>
            <a:fld id="{D8010B01-9828-43F1-AE47-DA7183CEE7B6}" type="slidenum">
              <a:rPr lang="en-US" smtClean="0"/>
              <a:t>22</a:t>
            </a:fld>
            <a:endParaRPr lang="en-US"/>
          </a:p>
        </p:txBody>
      </p:sp>
      <p:pic>
        <p:nvPicPr>
          <p:cNvPr id="12" name="Picture 11">
            <a:extLst>
              <a:ext uri="{FF2B5EF4-FFF2-40B4-BE49-F238E27FC236}">
                <a16:creationId xmlns:a16="http://schemas.microsoft.com/office/drawing/2014/main" id="{A7C6519A-53F7-71FF-B7D7-B79F7B1924DF}"/>
              </a:ext>
            </a:extLst>
          </p:cNvPr>
          <p:cNvPicPr>
            <a:picLocks noChangeAspect="1"/>
          </p:cNvPicPr>
          <p:nvPr/>
        </p:nvPicPr>
        <p:blipFill>
          <a:blip r:embed="rId4"/>
          <a:stretch>
            <a:fillRect/>
          </a:stretch>
        </p:blipFill>
        <p:spPr>
          <a:xfrm>
            <a:off x="648616" y="1528355"/>
            <a:ext cx="10762633" cy="4420781"/>
          </a:xfrm>
          <a:prstGeom prst="rect">
            <a:avLst/>
          </a:prstGeom>
        </p:spPr>
      </p:pic>
      <p:sp>
        <p:nvSpPr>
          <p:cNvPr id="13" name="Rectangle 12">
            <a:extLst>
              <a:ext uri="{FF2B5EF4-FFF2-40B4-BE49-F238E27FC236}">
                <a16:creationId xmlns:a16="http://schemas.microsoft.com/office/drawing/2014/main" id="{A8EB2529-C4DB-AE8B-D8CA-D4C40A1774FF}"/>
              </a:ext>
            </a:extLst>
          </p:cNvPr>
          <p:cNvSpPr/>
          <p:nvPr/>
        </p:nvSpPr>
        <p:spPr>
          <a:xfrm>
            <a:off x="840657" y="3937734"/>
            <a:ext cx="10250130" cy="188050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0C59EA-C30F-FFB4-098E-E7571859A3DD}"/>
              </a:ext>
            </a:extLst>
          </p:cNvPr>
          <p:cNvSpPr/>
          <p:nvPr/>
        </p:nvSpPr>
        <p:spPr>
          <a:xfrm>
            <a:off x="5493773" y="2982295"/>
            <a:ext cx="3753465" cy="7637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BB46A4-4189-0D77-5267-49A078A0256F}"/>
              </a:ext>
            </a:extLst>
          </p:cNvPr>
          <p:cNvSpPr/>
          <p:nvPr/>
        </p:nvSpPr>
        <p:spPr>
          <a:xfrm>
            <a:off x="4111111" y="1718849"/>
            <a:ext cx="5497463" cy="7637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99316EE-31FF-8F8D-D4C6-3AF0251718A5}"/>
              </a:ext>
            </a:extLst>
          </p:cNvPr>
          <p:cNvSpPr/>
          <p:nvPr/>
        </p:nvSpPr>
        <p:spPr>
          <a:xfrm>
            <a:off x="4066392" y="2215706"/>
            <a:ext cx="1901021" cy="27170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446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400A6-AB0F-69B7-9902-21EF8DBF0F74}"/>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D2D7297D-2D63-89E4-6C86-738C47299B9E}"/>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DA11B68A-FA81-2365-D7E8-A14E4373C417}"/>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Motivation: Memory Wast</a:t>
            </a:r>
            <a:r>
              <a:rPr lang="en-US" sz="3200" dirty="0">
                <a:solidFill>
                  <a:schemeClr val="lt1"/>
                </a:solidFill>
                <a:latin typeface="+mn-lt"/>
                <a:ea typeface="Helvetica Neue Light"/>
                <a:cs typeface="Helvetica Neue Light"/>
                <a:sym typeface="Helvetica Neue Light"/>
              </a:rPr>
              <a:t>e in KV Cache</a:t>
            </a:r>
          </a:p>
        </p:txBody>
      </p:sp>
      <p:pic>
        <p:nvPicPr>
          <p:cNvPr id="7" name="Picture 6">
            <a:extLst>
              <a:ext uri="{FF2B5EF4-FFF2-40B4-BE49-F238E27FC236}">
                <a16:creationId xmlns:a16="http://schemas.microsoft.com/office/drawing/2014/main" id="{E2280D74-5A0A-D209-2500-56F6C13D9A33}"/>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3DEBDD78-5CD8-76B1-FE10-889D296BB014}"/>
              </a:ext>
            </a:extLst>
          </p:cNvPr>
          <p:cNvSpPr>
            <a:spLocks noGrp="1"/>
          </p:cNvSpPr>
          <p:nvPr>
            <p:ph type="sldNum" sz="quarter" idx="12"/>
          </p:nvPr>
        </p:nvSpPr>
        <p:spPr/>
        <p:txBody>
          <a:bodyPr/>
          <a:lstStyle/>
          <a:p>
            <a:fld id="{D8010B01-9828-43F1-AE47-DA7183CEE7B6}" type="slidenum">
              <a:rPr lang="en-US" smtClean="0"/>
              <a:t>23</a:t>
            </a:fld>
            <a:endParaRPr lang="en-US"/>
          </a:p>
        </p:txBody>
      </p:sp>
      <p:pic>
        <p:nvPicPr>
          <p:cNvPr id="12" name="Picture 11">
            <a:extLst>
              <a:ext uri="{FF2B5EF4-FFF2-40B4-BE49-F238E27FC236}">
                <a16:creationId xmlns:a16="http://schemas.microsoft.com/office/drawing/2014/main" id="{4525D1B7-67DC-156E-3B39-312B8EB54B50}"/>
              </a:ext>
            </a:extLst>
          </p:cNvPr>
          <p:cNvPicPr>
            <a:picLocks noChangeAspect="1"/>
          </p:cNvPicPr>
          <p:nvPr/>
        </p:nvPicPr>
        <p:blipFill>
          <a:blip r:embed="rId4"/>
          <a:stretch>
            <a:fillRect/>
          </a:stretch>
        </p:blipFill>
        <p:spPr>
          <a:xfrm>
            <a:off x="648616" y="1528355"/>
            <a:ext cx="10762633" cy="4420781"/>
          </a:xfrm>
          <a:prstGeom prst="rect">
            <a:avLst/>
          </a:prstGeom>
        </p:spPr>
      </p:pic>
      <p:sp>
        <p:nvSpPr>
          <p:cNvPr id="13" name="Rectangle 12">
            <a:extLst>
              <a:ext uri="{FF2B5EF4-FFF2-40B4-BE49-F238E27FC236}">
                <a16:creationId xmlns:a16="http://schemas.microsoft.com/office/drawing/2014/main" id="{A4D228CF-8A96-0263-F203-8D2B5A1645B7}"/>
              </a:ext>
            </a:extLst>
          </p:cNvPr>
          <p:cNvSpPr/>
          <p:nvPr/>
        </p:nvSpPr>
        <p:spPr>
          <a:xfrm>
            <a:off x="840657" y="3937734"/>
            <a:ext cx="10250130" cy="188050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598036A-6829-4636-E4AA-BDACF6C6EA20}"/>
              </a:ext>
            </a:extLst>
          </p:cNvPr>
          <p:cNvSpPr/>
          <p:nvPr/>
        </p:nvSpPr>
        <p:spPr>
          <a:xfrm>
            <a:off x="5493773" y="2982295"/>
            <a:ext cx="3753465" cy="7637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22EFE15-8DED-5279-6E07-660160D693F9}"/>
              </a:ext>
            </a:extLst>
          </p:cNvPr>
          <p:cNvSpPr/>
          <p:nvPr/>
        </p:nvSpPr>
        <p:spPr>
          <a:xfrm>
            <a:off x="4111111" y="1718849"/>
            <a:ext cx="5497463" cy="7637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E792165-CEB0-D6A2-909D-121EFB5AACB7}"/>
              </a:ext>
            </a:extLst>
          </p:cNvPr>
          <p:cNvSpPr/>
          <p:nvPr/>
        </p:nvSpPr>
        <p:spPr>
          <a:xfrm>
            <a:off x="4066392" y="2215706"/>
            <a:ext cx="1901021" cy="27170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1D51BC0-6CCD-43A9-E5CD-29DE66278A36}"/>
              </a:ext>
            </a:extLst>
          </p:cNvPr>
          <p:cNvSpPr txBox="1"/>
          <p:nvPr/>
        </p:nvSpPr>
        <p:spPr>
          <a:xfrm>
            <a:off x="1894114" y="4201886"/>
            <a:ext cx="8440057" cy="461665"/>
          </a:xfrm>
          <a:prstGeom prst="rect">
            <a:avLst/>
          </a:prstGeom>
          <a:noFill/>
        </p:spPr>
        <p:txBody>
          <a:bodyPr wrap="square" rtlCol="0">
            <a:spAutoFit/>
          </a:bodyPr>
          <a:lstStyle/>
          <a:p>
            <a:r>
              <a:rPr lang="en-US" sz="2400" dirty="0">
                <a:solidFill>
                  <a:srgbClr val="C00000"/>
                </a:solidFill>
              </a:rPr>
              <a:t>Question: Where is memory being wasted?</a:t>
            </a:r>
          </a:p>
        </p:txBody>
      </p:sp>
    </p:spTree>
    <p:extLst>
      <p:ext uri="{BB962C8B-B14F-4D97-AF65-F5344CB8AC3E}">
        <p14:creationId xmlns:p14="http://schemas.microsoft.com/office/powerpoint/2010/main" val="1629977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0C75-BDDF-C1DD-A21E-B28287E04867}"/>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60AA62B0-A7F8-CE44-469D-D9D9E71D35FF}"/>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D3BE03BA-1DEC-1DDA-E34B-D55932650AD8}"/>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Motivation: Memory Wast</a:t>
            </a:r>
            <a:r>
              <a:rPr lang="en-US" sz="3200" dirty="0">
                <a:solidFill>
                  <a:schemeClr val="lt1"/>
                </a:solidFill>
                <a:latin typeface="+mn-lt"/>
                <a:ea typeface="Helvetica Neue Light"/>
                <a:cs typeface="Helvetica Neue Light"/>
                <a:sym typeface="Helvetica Neue Light"/>
              </a:rPr>
              <a:t>e in KV Cache</a:t>
            </a:r>
          </a:p>
        </p:txBody>
      </p:sp>
      <p:pic>
        <p:nvPicPr>
          <p:cNvPr id="7" name="Picture 6">
            <a:extLst>
              <a:ext uri="{FF2B5EF4-FFF2-40B4-BE49-F238E27FC236}">
                <a16:creationId xmlns:a16="http://schemas.microsoft.com/office/drawing/2014/main" id="{600E18C5-979F-E02B-72FF-4BBF6EAEF0AF}"/>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35EA3CA6-0DF8-C57E-9B3A-9A24D56FE092}"/>
              </a:ext>
            </a:extLst>
          </p:cNvPr>
          <p:cNvSpPr>
            <a:spLocks noGrp="1"/>
          </p:cNvSpPr>
          <p:nvPr>
            <p:ph type="sldNum" sz="quarter" idx="12"/>
          </p:nvPr>
        </p:nvSpPr>
        <p:spPr/>
        <p:txBody>
          <a:bodyPr/>
          <a:lstStyle/>
          <a:p>
            <a:fld id="{D8010B01-9828-43F1-AE47-DA7183CEE7B6}" type="slidenum">
              <a:rPr lang="en-US" smtClean="0"/>
              <a:t>24</a:t>
            </a:fld>
            <a:endParaRPr lang="en-US"/>
          </a:p>
        </p:txBody>
      </p:sp>
      <p:pic>
        <p:nvPicPr>
          <p:cNvPr id="12" name="Picture 11">
            <a:extLst>
              <a:ext uri="{FF2B5EF4-FFF2-40B4-BE49-F238E27FC236}">
                <a16:creationId xmlns:a16="http://schemas.microsoft.com/office/drawing/2014/main" id="{D5A4780D-BC40-EEF3-6B02-CB8462953DD4}"/>
              </a:ext>
            </a:extLst>
          </p:cNvPr>
          <p:cNvPicPr>
            <a:picLocks noChangeAspect="1"/>
          </p:cNvPicPr>
          <p:nvPr/>
        </p:nvPicPr>
        <p:blipFill>
          <a:blip r:embed="rId4"/>
          <a:stretch>
            <a:fillRect/>
          </a:stretch>
        </p:blipFill>
        <p:spPr>
          <a:xfrm>
            <a:off x="648616" y="1528355"/>
            <a:ext cx="10762633" cy="4420781"/>
          </a:xfrm>
          <a:prstGeom prst="rect">
            <a:avLst/>
          </a:prstGeom>
        </p:spPr>
      </p:pic>
      <p:sp>
        <p:nvSpPr>
          <p:cNvPr id="13" name="Rectangle 12">
            <a:extLst>
              <a:ext uri="{FF2B5EF4-FFF2-40B4-BE49-F238E27FC236}">
                <a16:creationId xmlns:a16="http://schemas.microsoft.com/office/drawing/2014/main" id="{DD27403B-3C13-9A11-EBF4-1FCE38B0909B}"/>
              </a:ext>
            </a:extLst>
          </p:cNvPr>
          <p:cNvSpPr/>
          <p:nvPr/>
        </p:nvSpPr>
        <p:spPr>
          <a:xfrm>
            <a:off x="840657" y="4775200"/>
            <a:ext cx="10250130" cy="10648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B1CCFE3-5A18-6A23-3F7E-B9171A710AD5}"/>
              </a:ext>
            </a:extLst>
          </p:cNvPr>
          <p:cNvSpPr/>
          <p:nvPr/>
        </p:nvSpPr>
        <p:spPr>
          <a:xfrm>
            <a:off x="4111111" y="1718849"/>
            <a:ext cx="5497463" cy="7637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44DBD8-1C38-FE64-85D2-CE1EB57254F9}"/>
              </a:ext>
            </a:extLst>
          </p:cNvPr>
          <p:cNvSpPr/>
          <p:nvPr/>
        </p:nvSpPr>
        <p:spPr>
          <a:xfrm>
            <a:off x="4066392" y="2215706"/>
            <a:ext cx="1901021" cy="27170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2161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3C7C-C432-A042-1345-3F7C30CF6C4B}"/>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49A8C1AA-ED41-D745-E5E3-A481F0C82E83}"/>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00F1F9E2-386B-8A3A-1EF4-685EC2D0322D}"/>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Motivation: Memory Wast</a:t>
            </a:r>
            <a:r>
              <a:rPr lang="en-US" sz="3200" dirty="0">
                <a:solidFill>
                  <a:schemeClr val="lt1"/>
                </a:solidFill>
                <a:latin typeface="+mn-lt"/>
                <a:ea typeface="Helvetica Neue Light"/>
                <a:cs typeface="Helvetica Neue Light"/>
                <a:sym typeface="Helvetica Neue Light"/>
              </a:rPr>
              <a:t>e in KV Cache</a:t>
            </a:r>
          </a:p>
        </p:txBody>
      </p:sp>
      <p:pic>
        <p:nvPicPr>
          <p:cNvPr id="7" name="Picture 6">
            <a:extLst>
              <a:ext uri="{FF2B5EF4-FFF2-40B4-BE49-F238E27FC236}">
                <a16:creationId xmlns:a16="http://schemas.microsoft.com/office/drawing/2014/main" id="{551E7A1C-B188-312C-30D2-1013FFF9CFE6}"/>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F6EFB05C-B58D-CF75-BD85-7CA8E004CDB6}"/>
              </a:ext>
            </a:extLst>
          </p:cNvPr>
          <p:cNvSpPr>
            <a:spLocks noGrp="1"/>
          </p:cNvSpPr>
          <p:nvPr>
            <p:ph type="sldNum" sz="quarter" idx="12"/>
          </p:nvPr>
        </p:nvSpPr>
        <p:spPr/>
        <p:txBody>
          <a:bodyPr/>
          <a:lstStyle/>
          <a:p>
            <a:fld id="{D8010B01-9828-43F1-AE47-DA7183CEE7B6}" type="slidenum">
              <a:rPr lang="en-US" smtClean="0"/>
              <a:t>25</a:t>
            </a:fld>
            <a:endParaRPr lang="en-US"/>
          </a:p>
        </p:txBody>
      </p:sp>
      <p:pic>
        <p:nvPicPr>
          <p:cNvPr id="12" name="Picture 11">
            <a:extLst>
              <a:ext uri="{FF2B5EF4-FFF2-40B4-BE49-F238E27FC236}">
                <a16:creationId xmlns:a16="http://schemas.microsoft.com/office/drawing/2014/main" id="{687BDC0D-705F-9813-73E7-91E5EC679F7A}"/>
              </a:ext>
            </a:extLst>
          </p:cNvPr>
          <p:cNvPicPr>
            <a:picLocks noChangeAspect="1"/>
          </p:cNvPicPr>
          <p:nvPr/>
        </p:nvPicPr>
        <p:blipFill>
          <a:blip r:embed="rId4"/>
          <a:stretch>
            <a:fillRect/>
          </a:stretch>
        </p:blipFill>
        <p:spPr>
          <a:xfrm>
            <a:off x="648616" y="1528355"/>
            <a:ext cx="10762633" cy="4420781"/>
          </a:xfrm>
          <a:prstGeom prst="rect">
            <a:avLst/>
          </a:prstGeom>
        </p:spPr>
      </p:pic>
      <p:sp>
        <p:nvSpPr>
          <p:cNvPr id="13" name="Rectangle 12">
            <a:extLst>
              <a:ext uri="{FF2B5EF4-FFF2-40B4-BE49-F238E27FC236}">
                <a16:creationId xmlns:a16="http://schemas.microsoft.com/office/drawing/2014/main" id="{12C3C092-15E5-452A-2C77-B4105914A220}"/>
              </a:ext>
            </a:extLst>
          </p:cNvPr>
          <p:cNvSpPr/>
          <p:nvPr/>
        </p:nvSpPr>
        <p:spPr>
          <a:xfrm>
            <a:off x="840657" y="5130800"/>
            <a:ext cx="10250130" cy="7092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28855EA-727D-CEE4-5284-5F049C1A4F7F}"/>
              </a:ext>
            </a:extLst>
          </p:cNvPr>
          <p:cNvSpPr/>
          <p:nvPr/>
        </p:nvSpPr>
        <p:spPr>
          <a:xfrm>
            <a:off x="6096000" y="1718849"/>
            <a:ext cx="3512574" cy="7637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0540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7E3C-0F3B-D9EF-F590-C996412630AE}"/>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A73F65EB-EC47-F757-8242-D4BF00A40B13}"/>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E7D91D79-A306-6CE1-FF6A-38BA26F452F0}"/>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Motivation: Memory Wast</a:t>
            </a:r>
            <a:r>
              <a:rPr lang="en-US" sz="3200" dirty="0">
                <a:solidFill>
                  <a:schemeClr val="lt1"/>
                </a:solidFill>
                <a:latin typeface="+mn-lt"/>
                <a:ea typeface="Helvetica Neue Light"/>
                <a:cs typeface="Helvetica Neue Light"/>
                <a:sym typeface="Helvetica Neue Light"/>
              </a:rPr>
              <a:t>e in KV Cache</a:t>
            </a:r>
          </a:p>
        </p:txBody>
      </p:sp>
      <p:pic>
        <p:nvPicPr>
          <p:cNvPr id="7" name="Picture 6">
            <a:extLst>
              <a:ext uri="{FF2B5EF4-FFF2-40B4-BE49-F238E27FC236}">
                <a16:creationId xmlns:a16="http://schemas.microsoft.com/office/drawing/2014/main" id="{B2092AF8-4453-5AB6-2617-ECD6123E65E4}"/>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C101900A-FA40-F4DB-7931-C830E39B5D47}"/>
              </a:ext>
            </a:extLst>
          </p:cNvPr>
          <p:cNvSpPr>
            <a:spLocks noGrp="1"/>
          </p:cNvSpPr>
          <p:nvPr>
            <p:ph type="sldNum" sz="quarter" idx="12"/>
          </p:nvPr>
        </p:nvSpPr>
        <p:spPr/>
        <p:txBody>
          <a:bodyPr/>
          <a:lstStyle/>
          <a:p>
            <a:fld id="{D8010B01-9828-43F1-AE47-DA7183CEE7B6}" type="slidenum">
              <a:rPr lang="en-US" smtClean="0"/>
              <a:t>26</a:t>
            </a:fld>
            <a:endParaRPr lang="en-US"/>
          </a:p>
        </p:txBody>
      </p:sp>
      <p:pic>
        <p:nvPicPr>
          <p:cNvPr id="12" name="Picture 11">
            <a:extLst>
              <a:ext uri="{FF2B5EF4-FFF2-40B4-BE49-F238E27FC236}">
                <a16:creationId xmlns:a16="http://schemas.microsoft.com/office/drawing/2014/main" id="{86888D68-C9D3-60AE-10B1-884B1F715B56}"/>
              </a:ext>
            </a:extLst>
          </p:cNvPr>
          <p:cNvPicPr>
            <a:picLocks noChangeAspect="1"/>
          </p:cNvPicPr>
          <p:nvPr/>
        </p:nvPicPr>
        <p:blipFill>
          <a:blip r:embed="rId4"/>
          <a:stretch>
            <a:fillRect/>
          </a:stretch>
        </p:blipFill>
        <p:spPr>
          <a:xfrm>
            <a:off x="648616" y="1528355"/>
            <a:ext cx="10762633" cy="4420781"/>
          </a:xfrm>
          <a:prstGeom prst="rect">
            <a:avLst/>
          </a:prstGeom>
        </p:spPr>
      </p:pic>
    </p:spTree>
    <p:extLst>
      <p:ext uri="{BB962C8B-B14F-4D97-AF65-F5344CB8AC3E}">
        <p14:creationId xmlns:p14="http://schemas.microsoft.com/office/powerpoint/2010/main" val="358848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1FE8-FBA8-FBD2-2026-7F1FE3C624DD}"/>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BE736F46-9DA9-A312-9B8F-66AC88B87F95}"/>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6B8357BC-54F1-6043-D17C-C95E0C0112AD}"/>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Motivation: Memory Wast</a:t>
            </a:r>
            <a:r>
              <a:rPr lang="en-US" sz="3200" dirty="0">
                <a:solidFill>
                  <a:schemeClr val="lt1"/>
                </a:solidFill>
                <a:latin typeface="+mn-lt"/>
                <a:ea typeface="Helvetica Neue Light"/>
                <a:cs typeface="Helvetica Neue Light"/>
                <a:sym typeface="Helvetica Neue Light"/>
              </a:rPr>
              <a:t>e in </a:t>
            </a:r>
            <a:r>
              <a:rPr lang="en-US" sz="3200">
                <a:solidFill>
                  <a:schemeClr val="lt1"/>
                </a:solidFill>
                <a:latin typeface="+mn-lt"/>
                <a:ea typeface="Helvetica Neue Light"/>
                <a:cs typeface="Helvetica Neue Light"/>
                <a:sym typeface="Helvetica Neue Light"/>
              </a:rPr>
              <a:t>KV Cache</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98884CB4-65AD-9E5D-0D0B-647F98689C61}"/>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AE7C4584-EFD0-AB57-B5DF-A68E1C333616}"/>
              </a:ext>
            </a:extLst>
          </p:cNvPr>
          <p:cNvSpPr>
            <a:spLocks noGrp="1"/>
          </p:cNvSpPr>
          <p:nvPr>
            <p:ph type="sldNum" sz="quarter" idx="12"/>
          </p:nvPr>
        </p:nvSpPr>
        <p:spPr/>
        <p:txBody>
          <a:bodyPr/>
          <a:lstStyle/>
          <a:p>
            <a:fld id="{D8010B01-9828-43F1-AE47-DA7183CEE7B6}" type="slidenum">
              <a:rPr lang="en-US" smtClean="0"/>
              <a:t>27</a:t>
            </a:fld>
            <a:endParaRPr lang="en-US"/>
          </a:p>
        </p:txBody>
      </p:sp>
      <p:pic>
        <p:nvPicPr>
          <p:cNvPr id="10" name="Picture 9">
            <a:extLst>
              <a:ext uri="{FF2B5EF4-FFF2-40B4-BE49-F238E27FC236}">
                <a16:creationId xmlns:a16="http://schemas.microsoft.com/office/drawing/2014/main" id="{58358A56-9678-B5C3-2931-10DE3A93D31B}"/>
              </a:ext>
            </a:extLst>
          </p:cNvPr>
          <p:cNvPicPr>
            <a:picLocks noChangeAspect="1"/>
          </p:cNvPicPr>
          <p:nvPr/>
        </p:nvPicPr>
        <p:blipFill>
          <a:blip r:embed="rId4"/>
          <a:stretch>
            <a:fillRect/>
          </a:stretch>
        </p:blipFill>
        <p:spPr>
          <a:xfrm>
            <a:off x="1689344" y="2422517"/>
            <a:ext cx="7443172" cy="3999147"/>
          </a:xfrm>
          <a:prstGeom prst="rect">
            <a:avLst/>
          </a:prstGeom>
        </p:spPr>
      </p:pic>
      <p:sp>
        <p:nvSpPr>
          <p:cNvPr id="11" name="Content Placeholder 2">
            <a:extLst>
              <a:ext uri="{FF2B5EF4-FFF2-40B4-BE49-F238E27FC236}">
                <a16:creationId xmlns:a16="http://schemas.microsoft.com/office/drawing/2014/main" id="{A922714C-96DD-ECC2-C1A6-31860E8DAC4A}"/>
              </a:ext>
            </a:extLst>
          </p:cNvPr>
          <p:cNvSpPr>
            <a:spLocks noGrp="1"/>
          </p:cNvSpPr>
          <p:nvPr>
            <p:ph idx="1"/>
          </p:nvPr>
        </p:nvSpPr>
        <p:spPr>
          <a:xfrm>
            <a:off x="706281" y="1654629"/>
            <a:ext cx="10143147" cy="3482520"/>
          </a:xfrm>
        </p:spPr>
        <p:txBody>
          <a:bodyPr>
            <a:normAutofit/>
          </a:bodyPr>
          <a:lstStyle/>
          <a:p>
            <a:r>
              <a:rPr lang="en-US" dirty="0"/>
              <a:t>Only </a:t>
            </a:r>
            <a:r>
              <a:rPr lang="en-US" dirty="0">
                <a:solidFill>
                  <a:srgbClr val="C00000"/>
                </a:solidFill>
              </a:rPr>
              <a:t>20-40%</a:t>
            </a:r>
            <a:r>
              <a:rPr lang="en-US" dirty="0"/>
              <a:t> of KV cache is used to store the actual token states</a:t>
            </a:r>
          </a:p>
        </p:txBody>
      </p:sp>
    </p:spTree>
    <p:extLst>
      <p:ext uri="{BB962C8B-B14F-4D97-AF65-F5344CB8AC3E}">
        <p14:creationId xmlns:p14="http://schemas.microsoft.com/office/powerpoint/2010/main" val="3124633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98A23-5FF5-5385-A6CD-3B3FA39618F6}"/>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E72904BF-3E01-20EC-8741-70E61934FCD7}"/>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CB39A04B-06A5-C572-EED4-F7EF09E9C8CB}"/>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err="1">
                <a:solidFill>
                  <a:schemeClr val="lt1"/>
                </a:solidFill>
                <a:latin typeface="+mn-lt"/>
                <a:ea typeface="Helvetica Neue Light"/>
                <a:cs typeface="Helvetica Neue Light"/>
                <a:sym typeface="Helvetica Neue Light"/>
              </a:rPr>
              <a:t>vLLM</a:t>
            </a:r>
            <a:r>
              <a:rPr lang="en-US" sz="3200" u="none" strike="noStrike" cap="none" dirty="0">
                <a:solidFill>
                  <a:schemeClr val="lt1"/>
                </a:solidFill>
                <a:latin typeface="+mn-lt"/>
                <a:ea typeface="Helvetica Neue Light"/>
                <a:cs typeface="Helvetica Neue Light"/>
                <a:sym typeface="Helvetica Neue Light"/>
              </a:rPr>
              <a:t>: Efficient Memory Management using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2FF65B41-28E9-5BF1-6423-48375BA2F4D2}"/>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3B49F146-18DD-99B9-E841-B2582289BA68}"/>
              </a:ext>
            </a:extLst>
          </p:cNvPr>
          <p:cNvSpPr>
            <a:spLocks noGrp="1"/>
          </p:cNvSpPr>
          <p:nvPr>
            <p:ph type="sldNum" sz="quarter" idx="12"/>
          </p:nvPr>
        </p:nvSpPr>
        <p:spPr/>
        <p:txBody>
          <a:bodyPr/>
          <a:lstStyle/>
          <a:p>
            <a:fld id="{D8010B01-9828-43F1-AE47-DA7183CEE7B6}" type="slidenum">
              <a:rPr lang="en-US" smtClean="0"/>
              <a:t>28</a:t>
            </a:fld>
            <a:endParaRPr lang="en-US"/>
          </a:p>
        </p:txBody>
      </p:sp>
      <p:sp>
        <p:nvSpPr>
          <p:cNvPr id="33" name="Rectangle 32">
            <a:extLst>
              <a:ext uri="{FF2B5EF4-FFF2-40B4-BE49-F238E27FC236}">
                <a16:creationId xmlns:a16="http://schemas.microsoft.com/office/drawing/2014/main" id="{0633A0D8-7CCE-B683-9244-226412ECE725}"/>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E518C1-9C53-3497-462A-055808743E0C}"/>
              </a:ext>
            </a:extLst>
          </p:cNvPr>
          <p:cNvSpPr>
            <a:spLocks noGrp="1"/>
          </p:cNvSpPr>
          <p:nvPr>
            <p:ph idx="1"/>
          </p:nvPr>
        </p:nvSpPr>
        <p:spPr>
          <a:xfrm>
            <a:off x="764850" y="1634080"/>
            <a:ext cx="5111914" cy="4607063"/>
          </a:xfrm>
        </p:spPr>
        <p:txBody>
          <a:bodyPr>
            <a:normAutofit/>
          </a:bodyPr>
          <a:lstStyle/>
          <a:p>
            <a:r>
              <a:rPr lang="en-US" sz="2400" dirty="0" err="1"/>
              <a:t>PagedAttention</a:t>
            </a:r>
            <a:r>
              <a:rPr lang="en-US" sz="2400" dirty="0"/>
              <a:t> algorithm allows for storing attention key-value pairs in </a:t>
            </a:r>
            <a:r>
              <a:rPr lang="en-US" sz="2400" dirty="0">
                <a:solidFill>
                  <a:srgbClr val="63BE7B"/>
                </a:solidFill>
              </a:rPr>
              <a:t>non-contiguous</a:t>
            </a:r>
            <a:r>
              <a:rPr lang="en-US" sz="2400" dirty="0"/>
              <a:t> </a:t>
            </a:r>
            <a:r>
              <a:rPr lang="en-US" sz="2400" dirty="0">
                <a:solidFill>
                  <a:srgbClr val="63BE7B"/>
                </a:solidFill>
              </a:rPr>
              <a:t>blocks</a:t>
            </a:r>
            <a:r>
              <a:rPr lang="en-US" sz="2400" dirty="0"/>
              <a:t> in the memory</a:t>
            </a:r>
          </a:p>
          <a:p>
            <a:endParaRPr lang="en-US" sz="2400" dirty="0"/>
          </a:p>
          <a:p>
            <a:r>
              <a:rPr lang="en-US" sz="2400" dirty="0"/>
              <a:t>Each KV block is a fixed-size contiguous chunk of memory  that stores KV cache from left to right</a:t>
            </a:r>
          </a:p>
          <a:p>
            <a:endParaRPr lang="en-US" sz="2400" dirty="0"/>
          </a:p>
          <a:p>
            <a:r>
              <a:rPr lang="en-US" sz="2400" dirty="0"/>
              <a:t>Attention for each new token is computed across all tokens in the non-contiguous KV block</a:t>
            </a:r>
          </a:p>
        </p:txBody>
      </p:sp>
      <p:pic>
        <p:nvPicPr>
          <p:cNvPr id="13" name="Picture 12">
            <a:extLst>
              <a:ext uri="{FF2B5EF4-FFF2-40B4-BE49-F238E27FC236}">
                <a16:creationId xmlns:a16="http://schemas.microsoft.com/office/drawing/2014/main" id="{9E01A976-8EDE-1730-02D3-9F96233E507E}"/>
              </a:ext>
            </a:extLst>
          </p:cNvPr>
          <p:cNvPicPr>
            <a:picLocks noChangeAspect="1"/>
          </p:cNvPicPr>
          <p:nvPr/>
        </p:nvPicPr>
        <p:blipFill>
          <a:blip r:embed="rId4"/>
          <a:stretch>
            <a:fillRect/>
          </a:stretch>
        </p:blipFill>
        <p:spPr>
          <a:xfrm>
            <a:off x="6146554" y="1421711"/>
            <a:ext cx="5410955" cy="4934639"/>
          </a:xfrm>
          <a:prstGeom prst="rect">
            <a:avLst/>
          </a:prstGeom>
        </p:spPr>
      </p:pic>
      <p:sp>
        <p:nvSpPr>
          <p:cNvPr id="14" name="Rectangle 13">
            <a:extLst>
              <a:ext uri="{FF2B5EF4-FFF2-40B4-BE49-F238E27FC236}">
                <a16:creationId xmlns:a16="http://schemas.microsoft.com/office/drawing/2014/main" id="{9527B1D3-6F29-AFFC-CC2F-84AA58EE8A64}"/>
              </a:ext>
            </a:extLst>
          </p:cNvPr>
          <p:cNvSpPr/>
          <p:nvPr/>
        </p:nvSpPr>
        <p:spPr>
          <a:xfrm>
            <a:off x="6096000" y="1357086"/>
            <a:ext cx="1850571" cy="52251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ED9E029-BEF7-726E-C0B2-CCB1277F1EA3}"/>
              </a:ext>
            </a:extLst>
          </p:cNvPr>
          <p:cNvSpPr/>
          <p:nvPr/>
        </p:nvSpPr>
        <p:spPr>
          <a:xfrm>
            <a:off x="551543" y="2917371"/>
            <a:ext cx="5386137" cy="3164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BD08F1F-46C7-D6F2-9AB5-966DA0F11F7D}"/>
              </a:ext>
            </a:extLst>
          </p:cNvPr>
          <p:cNvSpPr/>
          <p:nvPr/>
        </p:nvSpPr>
        <p:spPr>
          <a:xfrm>
            <a:off x="6011030" y="3256860"/>
            <a:ext cx="2426735" cy="3164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7827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6993D-7D43-BC4E-FC45-83C0B14CE34E}"/>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0A64ED30-E8CB-A007-B680-D74D57C48FEE}"/>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C8ADC458-16B0-30E8-6C91-067289B83875}"/>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err="1">
                <a:solidFill>
                  <a:schemeClr val="lt1"/>
                </a:solidFill>
                <a:latin typeface="+mn-lt"/>
                <a:ea typeface="Helvetica Neue Light"/>
                <a:cs typeface="Helvetica Neue Light"/>
                <a:sym typeface="Helvetica Neue Light"/>
              </a:rPr>
              <a:t>vLLM</a:t>
            </a:r>
            <a:r>
              <a:rPr lang="en-US" sz="3200" u="none" strike="noStrike" cap="none" dirty="0">
                <a:solidFill>
                  <a:schemeClr val="lt1"/>
                </a:solidFill>
                <a:latin typeface="+mn-lt"/>
                <a:ea typeface="Helvetica Neue Light"/>
                <a:cs typeface="Helvetica Neue Light"/>
                <a:sym typeface="Helvetica Neue Light"/>
              </a:rPr>
              <a:t>: Efficient Memory Management using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EAE23D24-941A-3E96-CD23-F4D098B17CCE}"/>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0CCF8D33-81C4-24D6-F851-68A47ABFCF33}"/>
              </a:ext>
            </a:extLst>
          </p:cNvPr>
          <p:cNvSpPr>
            <a:spLocks noGrp="1"/>
          </p:cNvSpPr>
          <p:nvPr>
            <p:ph type="sldNum" sz="quarter" idx="12"/>
          </p:nvPr>
        </p:nvSpPr>
        <p:spPr/>
        <p:txBody>
          <a:bodyPr/>
          <a:lstStyle/>
          <a:p>
            <a:fld id="{D8010B01-9828-43F1-AE47-DA7183CEE7B6}" type="slidenum">
              <a:rPr lang="en-US" smtClean="0"/>
              <a:t>29</a:t>
            </a:fld>
            <a:endParaRPr lang="en-US"/>
          </a:p>
        </p:txBody>
      </p:sp>
      <p:sp>
        <p:nvSpPr>
          <p:cNvPr id="33" name="Rectangle 32">
            <a:extLst>
              <a:ext uri="{FF2B5EF4-FFF2-40B4-BE49-F238E27FC236}">
                <a16:creationId xmlns:a16="http://schemas.microsoft.com/office/drawing/2014/main" id="{5B6EBF84-98EC-FE8A-2D4A-C9499F7FA780}"/>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AD2F2D-8F45-D26B-9E59-C25900C9AA4D}"/>
              </a:ext>
            </a:extLst>
          </p:cNvPr>
          <p:cNvSpPr>
            <a:spLocks noGrp="1"/>
          </p:cNvSpPr>
          <p:nvPr>
            <p:ph idx="1"/>
          </p:nvPr>
        </p:nvSpPr>
        <p:spPr>
          <a:xfrm>
            <a:off x="764850" y="1634080"/>
            <a:ext cx="5111914" cy="4607063"/>
          </a:xfrm>
        </p:spPr>
        <p:txBody>
          <a:bodyPr>
            <a:normAutofit/>
          </a:bodyPr>
          <a:lstStyle/>
          <a:p>
            <a:r>
              <a:rPr lang="en-US" sz="2400" dirty="0" err="1"/>
              <a:t>PagedAttention</a:t>
            </a:r>
            <a:r>
              <a:rPr lang="en-US" sz="2400" dirty="0"/>
              <a:t> algorithm allows for storing attention key-value pairs in </a:t>
            </a:r>
            <a:r>
              <a:rPr lang="en-US" sz="2400" dirty="0">
                <a:solidFill>
                  <a:srgbClr val="63BE7B"/>
                </a:solidFill>
              </a:rPr>
              <a:t>non-contiguous</a:t>
            </a:r>
            <a:r>
              <a:rPr lang="en-US" sz="2400" dirty="0"/>
              <a:t> </a:t>
            </a:r>
            <a:r>
              <a:rPr lang="en-US" sz="2400" dirty="0">
                <a:solidFill>
                  <a:srgbClr val="63BE7B"/>
                </a:solidFill>
              </a:rPr>
              <a:t>blocks</a:t>
            </a:r>
            <a:r>
              <a:rPr lang="en-US" sz="2400" dirty="0"/>
              <a:t> in the memory</a:t>
            </a:r>
          </a:p>
          <a:p>
            <a:endParaRPr lang="en-US" sz="2400" dirty="0"/>
          </a:p>
          <a:p>
            <a:r>
              <a:rPr lang="en-US" sz="2400" dirty="0"/>
              <a:t>Each KV block is a fixed-size contiguous chunk of memory  that stores KV cache from left to right</a:t>
            </a:r>
          </a:p>
          <a:p>
            <a:endParaRPr lang="en-US" sz="2400" dirty="0"/>
          </a:p>
          <a:p>
            <a:r>
              <a:rPr lang="en-US" sz="2400" dirty="0"/>
              <a:t>Attention for each new token is computed across all tokens in the non-contiguous KV block</a:t>
            </a:r>
          </a:p>
        </p:txBody>
      </p:sp>
      <p:pic>
        <p:nvPicPr>
          <p:cNvPr id="13" name="Picture 12">
            <a:extLst>
              <a:ext uri="{FF2B5EF4-FFF2-40B4-BE49-F238E27FC236}">
                <a16:creationId xmlns:a16="http://schemas.microsoft.com/office/drawing/2014/main" id="{37E62BC2-5AC5-B5E3-C0A4-C8BADEEC07A2}"/>
              </a:ext>
            </a:extLst>
          </p:cNvPr>
          <p:cNvPicPr>
            <a:picLocks noChangeAspect="1"/>
          </p:cNvPicPr>
          <p:nvPr/>
        </p:nvPicPr>
        <p:blipFill>
          <a:blip r:embed="rId4"/>
          <a:stretch>
            <a:fillRect/>
          </a:stretch>
        </p:blipFill>
        <p:spPr>
          <a:xfrm>
            <a:off x="6146554" y="1421711"/>
            <a:ext cx="5410955" cy="4934639"/>
          </a:xfrm>
          <a:prstGeom prst="rect">
            <a:avLst/>
          </a:prstGeom>
        </p:spPr>
      </p:pic>
      <p:sp>
        <p:nvSpPr>
          <p:cNvPr id="14" name="Rectangle 13">
            <a:extLst>
              <a:ext uri="{FF2B5EF4-FFF2-40B4-BE49-F238E27FC236}">
                <a16:creationId xmlns:a16="http://schemas.microsoft.com/office/drawing/2014/main" id="{16035640-4794-1AF3-CEBF-3EDC6C5D1D05}"/>
              </a:ext>
            </a:extLst>
          </p:cNvPr>
          <p:cNvSpPr/>
          <p:nvPr/>
        </p:nvSpPr>
        <p:spPr>
          <a:xfrm>
            <a:off x="6096000" y="1357086"/>
            <a:ext cx="1850571" cy="52251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427B308-CB98-3FF1-5834-866E24B191E4}"/>
              </a:ext>
            </a:extLst>
          </p:cNvPr>
          <p:cNvSpPr/>
          <p:nvPr/>
        </p:nvSpPr>
        <p:spPr>
          <a:xfrm>
            <a:off x="551543" y="4717143"/>
            <a:ext cx="5386137" cy="13643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AFBB9BE-2525-6918-393C-93717FF665CD}"/>
              </a:ext>
            </a:extLst>
          </p:cNvPr>
          <p:cNvSpPr/>
          <p:nvPr/>
        </p:nvSpPr>
        <p:spPr>
          <a:xfrm>
            <a:off x="6011030" y="3256860"/>
            <a:ext cx="2426735" cy="3164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3034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E3FF-F22D-8EF6-E8F4-106178B82C56}"/>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34A3111C-EA27-80B8-32A7-55C8C31B50F9}"/>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6C1C12DC-19C3-C15D-7941-8EE84C278987}"/>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err="1">
                <a:solidFill>
                  <a:schemeClr val="lt1"/>
                </a:solidFill>
                <a:latin typeface="+mn-lt"/>
                <a:ea typeface="Helvetica Neue Light"/>
                <a:cs typeface="Helvetica Neue Light"/>
                <a:sym typeface="Helvetica Neue Light"/>
              </a:rPr>
              <a:t>vLLM</a:t>
            </a:r>
            <a:r>
              <a:rPr lang="en-US" sz="3200" u="none" strike="noStrike" cap="none" dirty="0">
                <a:solidFill>
                  <a:schemeClr val="lt1"/>
                </a:solidFill>
                <a:latin typeface="+mn-lt"/>
                <a:ea typeface="Helvetica Neue Light"/>
                <a:cs typeface="Helvetica Neue Light"/>
                <a:sym typeface="Helvetica Neue Light"/>
              </a:rPr>
              <a:t>: Efficient Memory Management using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5071BFFB-A49D-5021-5722-3A4940C67F94}"/>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FD8769C5-B441-FE40-1A14-DADEFA5C0C33}"/>
              </a:ext>
            </a:extLst>
          </p:cNvPr>
          <p:cNvSpPr>
            <a:spLocks noGrp="1"/>
          </p:cNvSpPr>
          <p:nvPr>
            <p:ph type="sldNum" sz="quarter" idx="12"/>
          </p:nvPr>
        </p:nvSpPr>
        <p:spPr/>
        <p:txBody>
          <a:bodyPr/>
          <a:lstStyle/>
          <a:p>
            <a:fld id="{D8010B01-9828-43F1-AE47-DA7183CEE7B6}" type="slidenum">
              <a:rPr lang="en-US" smtClean="0"/>
              <a:t>30</a:t>
            </a:fld>
            <a:endParaRPr lang="en-US"/>
          </a:p>
        </p:txBody>
      </p:sp>
      <p:sp>
        <p:nvSpPr>
          <p:cNvPr id="3" name="Content Placeholder 2">
            <a:extLst>
              <a:ext uri="{FF2B5EF4-FFF2-40B4-BE49-F238E27FC236}">
                <a16:creationId xmlns:a16="http://schemas.microsoft.com/office/drawing/2014/main" id="{68F2D5A1-1EAF-4C3E-A7F8-FC9197CD515C}"/>
              </a:ext>
            </a:extLst>
          </p:cNvPr>
          <p:cNvSpPr>
            <a:spLocks noGrp="1"/>
          </p:cNvSpPr>
          <p:nvPr>
            <p:ph idx="1"/>
          </p:nvPr>
        </p:nvSpPr>
        <p:spPr>
          <a:xfrm>
            <a:off x="764850" y="1634080"/>
            <a:ext cx="5111914" cy="4607063"/>
          </a:xfrm>
        </p:spPr>
        <p:txBody>
          <a:bodyPr>
            <a:normAutofit/>
          </a:bodyPr>
          <a:lstStyle/>
          <a:p>
            <a:r>
              <a:rPr lang="en-US" sz="2400" dirty="0" err="1"/>
              <a:t>PagedAttention</a:t>
            </a:r>
            <a:r>
              <a:rPr lang="en-US" sz="2400" dirty="0"/>
              <a:t> algorithm allows for storing attention key-value pairs in </a:t>
            </a:r>
            <a:r>
              <a:rPr lang="en-US" sz="2400" dirty="0">
                <a:solidFill>
                  <a:srgbClr val="63BE7B"/>
                </a:solidFill>
              </a:rPr>
              <a:t>non-contiguous</a:t>
            </a:r>
            <a:r>
              <a:rPr lang="en-US" sz="2400" dirty="0"/>
              <a:t> </a:t>
            </a:r>
            <a:r>
              <a:rPr lang="en-US" sz="2400" dirty="0">
                <a:solidFill>
                  <a:srgbClr val="63BE7B"/>
                </a:solidFill>
              </a:rPr>
              <a:t>blocks</a:t>
            </a:r>
            <a:r>
              <a:rPr lang="en-US" sz="2400" dirty="0"/>
              <a:t> in the memory</a:t>
            </a:r>
          </a:p>
          <a:p>
            <a:endParaRPr lang="en-US" sz="2400" dirty="0"/>
          </a:p>
          <a:p>
            <a:r>
              <a:rPr lang="en-US" sz="2400" dirty="0"/>
              <a:t>Each KV block is a fixed-size contiguous chunk of memory  that stores KV cache from left to right</a:t>
            </a:r>
          </a:p>
          <a:p>
            <a:endParaRPr lang="en-US" sz="2400" dirty="0"/>
          </a:p>
          <a:p>
            <a:r>
              <a:rPr lang="en-US" sz="2400" dirty="0"/>
              <a:t>Attention for each new token is computed across all tokens in the non-contiguous KV block</a:t>
            </a:r>
          </a:p>
        </p:txBody>
      </p:sp>
      <p:pic>
        <p:nvPicPr>
          <p:cNvPr id="13" name="Picture 12">
            <a:extLst>
              <a:ext uri="{FF2B5EF4-FFF2-40B4-BE49-F238E27FC236}">
                <a16:creationId xmlns:a16="http://schemas.microsoft.com/office/drawing/2014/main" id="{797001A7-8ADA-40BE-FF26-CC11212FF003}"/>
              </a:ext>
            </a:extLst>
          </p:cNvPr>
          <p:cNvPicPr>
            <a:picLocks noChangeAspect="1"/>
          </p:cNvPicPr>
          <p:nvPr/>
        </p:nvPicPr>
        <p:blipFill>
          <a:blip r:embed="rId4"/>
          <a:stretch>
            <a:fillRect/>
          </a:stretch>
        </p:blipFill>
        <p:spPr>
          <a:xfrm>
            <a:off x="6146554" y="1421711"/>
            <a:ext cx="5410955" cy="4934639"/>
          </a:xfrm>
          <a:prstGeom prst="rect">
            <a:avLst/>
          </a:prstGeom>
        </p:spPr>
      </p:pic>
      <p:sp>
        <p:nvSpPr>
          <p:cNvPr id="14" name="Rectangle 13">
            <a:extLst>
              <a:ext uri="{FF2B5EF4-FFF2-40B4-BE49-F238E27FC236}">
                <a16:creationId xmlns:a16="http://schemas.microsoft.com/office/drawing/2014/main" id="{91F2848A-2374-209E-1B37-35C1CC22262B}"/>
              </a:ext>
            </a:extLst>
          </p:cNvPr>
          <p:cNvSpPr/>
          <p:nvPr/>
        </p:nvSpPr>
        <p:spPr>
          <a:xfrm>
            <a:off x="6096000" y="1357086"/>
            <a:ext cx="1850571" cy="52251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8887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A3DBA-CA5A-E8D8-ECED-959B8C015A81}"/>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0F4208DE-702B-10A6-2DC7-3D4FF463ABDF}"/>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6B74D554-CC2D-F32F-272B-076C5E62C46D}"/>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Block Table For Managing KV Cache Blocks</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FEEC2F1C-8196-A9E1-F43F-67F52381F2E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F56DB9E4-06AF-A80F-5FB2-E0698CEBBBD6}"/>
              </a:ext>
            </a:extLst>
          </p:cNvPr>
          <p:cNvSpPr>
            <a:spLocks noGrp="1"/>
          </p:cNvSpPr>
          <p:nvPr>
            <p:ph type="sldNum" sz="quarter" idx="12"/>
          </p:nvPr>
        </p:nvSpPr>
        <p:spPr/>
        <p:txBody>
          <a:bodyPr/>
          <a:lstStyle/>
          <a:p>
            <a:fld id="{D8010B01-9828-43F1-AE47-DA7183CEE7B6}" type="slidenum">
              <a:rPr lang="en-US" smtClean="0"/>
              <a:t>31</a:t>
            </a:fld>
            <a:endParaRPr lang="en-US"/>
          </a:p>
        </p:txBody>
      </p:sp>
      <p:sp>
        <p:nvSpPr>
          <p:cNvPr id="33" name="Rectangle 32">
            <a:extLst>
              <a:ext uri="{FF2B5EF4-FFF2-40B4-BE49-F238E27FC236}">
                <a16:creationId xmlns:a16="http://schemas.microsoft.com/office/drawing/2014/main" id="{F5F86833-A84C-C638-447D-5098818E81FC}"/>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BE999E1-6F05-EF57-7F13-4FFDCDF712AC}"/>
              </a:ext>
            </a:extLst>
          </p:cNvPr>
          <p:cNvPicPr>
            <a:picLocks noChangeAspect="1"/>
          </p:cNvPicPr>
          <p:nvPr/>
        </p:nvPicPr>
        <p:blipFill>
          <a:blip r:embed="rId4"/>
          <a:stretch>
            <a:fillRect/>
          </a:stretch>
        </p:blipFill>
        <p:spPr>
          <a:xfrm>
            <a:off x="757158" y="1440954"/>
            <a:ext cx="10122076" cy="4915396"/>
          </a:xfrm>
          <a:prstGeom prst="rect">
            <a:avLst/>
          </a:prstGeom>
        </p:spPr>
      </p:pic>
    </p:spTree>
    <p:extLst>
      <p:ext uri="{BB962C8B-B14F-4D97-AF65-F5344CB8AC3E}">
        <p14:creationId xmlns:p14="http://schemas.microsoft.com/office/powerpoint/2010/main" val="4033413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260A-5C17-541A-93F1-3C2F591650CB}"/>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5FA2F83A-EBCD-9057-F9C2-6E56AB726898}"/>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8E49BD6D-8D47-9598-0CEA-5980B0C2FF60}"/>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Memory Efficiency of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4DEC7FA0-CC8B-6436-6AFD-F172FCFC069D}"/>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1276C474-6172-838A-0431-691D8ACD01F7}"/>
              </a:ext>
            </a:extLst>
          </p:cNvPr>
          <p:cNvSpPr>
            <a:spLocks noGrp="1"/>
          </p:cNvSpPr>
          <p:nvPr>
            <p:ph type="sldNum" sz="quarter" idx="12"/>
          </p:nvPr>
        </p:nvSpPr>
        <p:spPr/>
        <p:txBody>
          <a:bodyPr/>
          <a:lstStyle/>
          <a:p>
            <a:fld id="{D8010B01-9828-43F1-AE47-DA7183CEE7B6}" type="slidenum">
              <a:rPr lang="en-US" smtClean="0"/>
              <a:t>32</a:t>
            </a:fld>
            <a:endParaRPr lang="en-US"/>
          </a:p>
        </p:txBody>
      </p:sp>
      <p:sp>
        <p:nvSpPr>
          <p:cNvPr id="33" name="Rectangle 32">
            <a:extLst>
              <a:ext uri="{FF2B5EF4-FFF2-40B4-BE49-F238E27FC236}">
                <a16:creationId xmlns:a16="http://schemas.microsoft.com/office/drawing/2014/main" id="{D62B4116-8028-0083-792E-5B6456D4413F}"/>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D056E76-7302-475A-74AD-9DB116E8D309}"/>
              </a:ext>
            </a:extLst>
          </p:cNvPr>
          <p:cNvPicPr>
            <a:picLocks noChangeAspect="1"/>
          </p:cNvPicPr>
          <p:nvPr/>
        </p:nvPicPr>
        <p:blipFill>
          <a:blip r:embed="rId4"/>
          <a:stretch>
            <a:fillRect/>
          </a:stretch>
        </p:blipFill>
        <p:spPr>
          <a:xfrm>
            <a:off x="620778" y="2556656"/>
            <a:ext cx="10809721" cy="3696831"/>
          </a:xfrm>
          <a:prstGeom prst="rect">
            <a:avLst/>
          </a:prstGeom>
        </p:spPr>
      </p:pic>
      <p:sp>
        <p:nvSpPr>
          <p:cNvPr id="8" name="Content Placeholder 2">
            <a:extLst>
              <a:ext uri="{FF2B5EF4-FFF2-40B4-BE49-F238E27FC236}">
                <a16:creationId xmlns:a16="http://schemas.microsoft.com/office/drawing/2014/main" id="{3EA2AD18-CF3A-5019-727A-1C4868CBCD8C}"/>
              </a:ext>
            </a:extLst>
          </p:cNvPr>
          <p:cNvSpPr>
            <a:spLocks noGrp="1"/>
          </p:cNvSpPr>
          <p:nvPr>
            <p:ph idx="1"/>
          </p:nvPr>
        </p:nvSpPr>
        <p:spPr>
          <a:xfrm>
            <a:off x="838199" y="1177333"/>
            <a:ext cx="10925629" cy="4607063"/>
          </a:xfrm>
        </p:spPr>
        <p:txBody>
          <a:bodyPr>
            <a:normAutofit/>
          </a:bodyPr>
          <a:lstStyle/>
          <a:p>
            <a:r>
              <a:rPr lang="en-US" sz="2400" dirty="0"/>
              <a:t>Minimal internal fragmentation</a:t>
            </a:r>
          </a:p>
          <a:p>
            <a:pPr lvl="1"/>
            <a:r>
              <a:rPr lang="en-US" dirty="0"/>
              <a:t># of wasted tokens per sequence &lt; block size</a:t>
            </a:r>
          </a:p>
          <a:p>
            <a:r>
              <a:rPr lang="en-US" sz="2400" dirty="0"/>
              <a:t>No external fragmentation</a:t>
            </a:r>
          </a:p>
        </p:txBody>
      </p:sp>
      <p:sp>
        <p:nvSpPr>
          <p:cNvPr id="3" name="Rectangle 2">
            <a:extLst>
              <a:ext uri="{FF2B5EF4-FFF2-40B4-BE49-F238E27FC236}">
                <a16:creationId xmlns:a16="http://schemas.microsoft.com/office/drawing/2014/main" id="{F3439F52-BB75-A879-DF43-86ED4C7EF517}"/>
              </a:ext>
            </a:extLst>
          </p:cNvPr>
          <p:cNvSpPr/>
          <p:nvPr/>
        </p:nvSpPr>
        <p:spPr>
          <a:xfrm>
            <a:off x="5948565" y="2452928"/>
            <a:ext cx="5945892" cy="390342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288B609-518F-8682-3D0B-BD71A906766C}"/>
              </a:ext>
            </a:extLst>
          </p:cNvPr>
          <p:cNvSpPr/>
          <p:nvPr/>
        </p:nvSpPr>
        <p:spPr>
          <a:xfrm>
            <a:off x="707570" y="1968373"/>
            <a:ext cx="5945892" cy="6856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6365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85173-F152-DFC3-ABA1-6F02C9F63C6E}"/>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19980371-447C-A84F-CB39-9D83243247DF}"/>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8E03DC0E-E352-4887-B4D7-C933C86ABB5E}"/>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Memory Efficiency of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EF3B5898-449D-E20D-34BD-D2A6AFCED1C7}"/>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F19276A5-A853-FB87-E8F2-EFEC661A65C8}"/>
              </a:ext>
            </a:extLst>
          </p:cNvPr>
          <p:cNvSpPr>
            <a:spLocks noGrp="1"/>
          </p:cNvSpPr>
          <p:nvPr>
            <p:ph type="sldNum" sz="quarter" idx="12"/>
          </p:nvPr>
        </p:nvSpPr>
        <p:spPr/>
        <p:txBody>
          <a:bodyPr/>
          <a:lstStyle/>
          <a:p>
            <a:fld id="{D8010B01-9828-43F1-AE47-DA7183CEE7B6}" type="slidenum">
              <a:rPr lang="en-US" smtClean="0"/>
              <a:t>33</a:t>
            </a:fld>
            <a:endParaRPr lang="en-US"/>
          </a:p>
        </p:txBody>
      </p:sp>
      <p:sp>
        <p:nvSpPr>
          <p:cNvPr id="33" name="Rectangle 32">
            <a:extLst>
              <a:ext uri="{FF2B5EF4-FFF2-40B4-BE49-F238E27FC236}">
                <a16:creationId xmlns:a16="http://schemas.microsoft.com/office/drawing/2014/main" id="{62741615-38F5-C148-9F80-14C1F257F82B}"/>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D6E87E7-4D74-B635-3199-216E7B203E53}"/>
              </a:ext>
            </a:extLst>
          </p:cNvPr>
          <p:cNvPicPr>
            <a:picLocks noChangeAspect="1"/>
          </p:cNvPicPr>
          <p:nvPr/>
        </p:nvPicPr>
        <p:blipFill>
          <a:blip r:embed="rId4"/>
          <a:stretch>
            <a:fillRect/>
          </a:stretch>
        </p:blipFill>
        <p:spPr>
          <a:xfrm>
            <a:off x="620778" y="2556656"/>
            <a:ext cx="10809721" cy="3696831"/>
          </a:xfrm>
          <a:prstGeom prst="rect">
            <a:avLst/>
          </a:prstGeom>
        </p:spPr>
      </p:pic>
      <p:sp>
        <p:nvSpPr>
          <p:cNvPr id="8" name="Content Placeholder 2">
            <a:extLst>
              <a:ext uri="{FF2B5EF4-FFF2-40B4-BE49-F238E27FC236}">
                <a16:creationId xmlns:a16="http://schemas.microsoft.com/office/drawing/2014/main" id="{8D077A59-62CB-090E-F910-E44B75D590B7}"/>
              </a:ext>
            </a:extLst>
          </p:cNvPr>
          <p:cNvSpPr>
            <a:spLocks noGrp="1"/>
          </p:cNvSpPr>
          <p:nvPr>
            <p:ph idx="1"/>
          </p:nvPr>
        </p:nvSpPr>
        <p:spPr>
          <a:xfrm>
            <a:off x="838199" y="1177333"/>
            <a:ext cx="10925629" cy="4607063"/>
          </a:xfrm>
        </p:spPr>
        <p:txBody>
          <a:bodyPr>
            <a:normAutofit/>
          </a:bodyPr>
          <a:lstStyle/>
          <a:p>
            <a:r>
              <a:rPr lang="en-US" sz="2400" dirty="0"/>
              <a:t>Minimal internal fragmentation</a:t>
            </a:r>
          </a:p>
          <a:p>
            <a:pPr lvl="1"/>
            <a:r>
              <a:rPr lang="en-US" dirty="0"/>
              <a:t># of wasted tokens per sequence &lt; block size</a:t>
            </a:r>
          </a:p>
          <a:p>
            <a:r>
              <a:rPr lang="en-US" sz="2400" dirty="0"/>
              <a:t>No external fragmentation</a:t>
            </a:r>
          </a:p>
        </p:txBody>
      </p:sp>
    </p:spTree>
    <p:extLst>
      <p:ext uri="{BB962C8B-B14F-4D97-AF65-F5344CB8AC3E}">
        <p14:creationId xmlns:p14="http://schemas.microsoft.com/office/powerpoint/2010/main" val="1391508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A78EF-1DD4-4494-A5AE-838C88C09547}"/>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11EA3032-6E41-F65F-E9F3-4BD3E87EC5CA}"/>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78D6D590-5624-FFA0-E3A8-4EBC08C8E1E3}"/>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err="1">
                <a:solidFill>
                  <a:schemeClr val="lt1"/>
                </a:solidFill>
                <a:latin typeface="+mn-lt"/>
                <a:ea typeface="Helvetica Neue Light"/>
                <a:cs typeface="Helvetica Neue Light"/>
                <a:sym typeface="Helvetica Neue Light"/>
              </a:rPr>
              <a:t>vLLM</a:t>
            </a:r>
            <a:r>
              <a:rPr lang="en-US" sz="3200" u="none" strike="noStrike" cap="none" dirty="0">
                <a:solidFill>
                  <a:schemeClr val="lt1"/>
                </a:solidFill>
                <a:latin typeface="+mn-lt"/>
                <a:ea typeface="Helvetica Neue Light"/>
                <a:cs typeface="Helvetica Neue Light"/>
                <a:sym typeface="Helvetica Neue Light"/>
              </a:rPr>
              <a:t> Performance with Basic Generation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63F2461D-2D26-2106-E2A8-B065CDDBD069}"/>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B66F2D9D-0FA0-1F1A-F264-9215212898D0}"/>
              </a:ext>
            </a:extLst>
          </p:cNvPr>
          <p:cNvSpPr>
            <a:spLocks noGrp="1"/>
          </p:cNvSpPr>
          <p:nvPr>
            <p:ph type="sldNum" sz="quarter" idx="12"/>
          </p:nvPr>
        </p:nvSpPr>
        <p:spPr/>
        <p:txBody>
          <a:bodyPr/>
          <a:lstStyle/>
          <a:p>
            <a:fld id="{D8010B01-9828-43F1-AE47-DA7183CEE7B6}" type="slidenum">
              <a:rPr lang="en-US" smtClean="0"/>
              <a:t>34</a:t>
            </a:fld>
            <a:endParaRPr lang="en-US"/>
          </a:p>
        </p:txBody>
      </p:sp>
      <p:sp>
        <p:nvSpPr>
          <p:cNvPr id="33" name="Rectangle 32">
            <a:extLst>
              <a:ext uri="{FF2B5EF4-FFF2-40B4-BE49-F238E27FC236}">
                <a16:creationId xmlns:a16="http://schemas.microsoft.com/office/drawing/2014/main" id="{8B423AB4-2954-5C4A-3FD3-FB576582EFC0}"/>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EB8984E-0AFD-FC51-7EF3-CFF1A248509E}"/>
              </a:ext>
            </a:extLst>
          </p:cNvPr>
          <p:cNvPicPr>
            <a:picLocks noChangeAspect="1"/>
          </p:cNvPicPr>
          <p:nvPr/>
        </p:nvPicPr>
        <p:blipFill>
          <a:blip r:embed="rId4"/>
          <a:stretch>
            <a:fillRect/>
          </a:stretch>
        </p:blipFill>
        <p:spPr>
          <a:xfrm>
            <a:off x="453629" y="1396274"/>
            <a:ext cx="10729133" cy="4699727"/>
          </a:xfrm>
          <a:prstGeom prst="rect">
            <a:avLst/>
          </a:prstGeom>
        </p:spPr>
      </p:pic>
    </p:spTree>
    <p:extLst>
      <p:ext uri="{BB962C8B-B14F-4D97-AF65-F5344CB8AC3E}">
        <p14:creationId xmlns:p14="http://schemas.microsoft.com/office/powerpoint/2010/main" val="1586640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F157A-C0F4-EF28-9A95-FAD62A28AFC1}"/>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61F7D497-1881-6E26-7790-0A685F05E98D}"/>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CF9B76D8-AB7B-CBCB-E9ED-C929F5C50A0C}"/>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Handling Multiple Requests</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128FDB0D-DDDE-5A16-F74C-A4F62F2D344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0A7F4DAD-8475-9EF7-DF00-FFC00280F7BC}"/>
              </a:ext>
            </a:extLst>
          </p:cNvPr>
          <p:cNvSpPr>
            <a:spLocks noGrp="1"/>
          </p:cNvSpPr>
          <p:nvPr>
            <p:ph type="sldNum" sz="quarter" idx="12"/>
          </p:nvPr>
        </p:nvSpPr>
        <p:spPr/>
        <p:txBody>
          <a:bodyPr/>
          <a:lstStyle/>
          <a:p>
            <a:fld id="{D8010B01-9828-43F1-AE47-DA7183CEE7B6}" type="slidenum">
              <a:rPr lang="en-US" smtClean="0"/>
              <a:t>35</a:t>
            </a:fld>
            <a:endParaRPr lang="en-US"/>
          </a:p>
        </p:txBody>
      </p:sp>
      <p:sp>
        <p:nvSpPr>
          <p:cNvPr id="33" name="Rectangle 32">
            <a:extLst>
              <a:ext uri="{FF2B5EF4-FFF2-40B4-BE49-F238E27FC236}">
                <a16:creationId xmlns:a16="http://schemas.microsoft.com/office/drawing/2014/main" id="{3C7B1D40-4E0F-3D13-AFC5-A10C448364E7}"/>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8CCC589-269F-995E-8A59-9C7CA8C746EB}"/>
              </a:ext>
            </a:extLst>
          </p:cNvPr>
          <p:cNvPicPr>
            <a:picLocks noChangeAspect="1"/>
          </p:cNvPicPr>
          <p:nvPr/>
        </p:nvPicPr>
        <p:blipFill>
          <a:blip r:embed="rId4"/>
          <a:stretch>
            <a:fillRect/>
          </a:stretch>
        </p:blipFill>
        <p:spPr>
          <a:xfrm>
            <a:off x="493845" y="1504681"/>
            <a:ext cx="11063664" cy="4709926"/>
          </a:xfrm>
          <a:prstGeom prst="rect">
            <a:avLst/>
          </a:prstGeom>
        </p:spPr>
      </p:pic>
    </p:spTree>
    <p:extLst>
      <p:ext uri="{BB962C8B-B14F-4D97-AF65-F5344CB8AC3E}">
        <p14:creationId xmlns:p14="http://schemas.microsoft.com/office/powerpoint/2010/main" val="4187759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03D5E-5DB5-F807-F821-819D6CBD3500}"/>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A9DB9484-FF37-8B02-2F06-DF42D200F504}"/>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149C66AA-CCE0-CCB7-00B4-97CA197D31D1}"/>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Application to Other Decoding Scenarios</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7CC40CEF-B389-1D8E-54FC-4A2FAB358474}"/>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99FE00B7-7092-6746-631A-CD9646E9713B}"/>
              </a:ext>
            </a:extLst>
          </p:cNvPr>
          <p:cNvSpPr>
            <a:spLocks noGrp="1"/>
          </p:cNvSpPr>
          <p:nvPr>
            <p:ph type="sldNum" sz="quarter" idx="12"/>
          </p:nvPr>
        </p:nvSpPr>
        <p:spPr/>
        <p:txBody>
          <a:bodyPr/>
          <a:lstStyle/>
          <a:p>
            <a:fld id="{D8010B01-9828-43F1-AE47-DA7183CEE7B6}" type="slidenum">
              <a:rPr lang="en-US" smtClean="0"/>
              <a:t>36</a:t>
            </a:fld>
            <a:endParaRPr lang="en-US"/>
          </a:p>
        </p:txBody>
      </p:sp>
      <p:sp>
        <p:nvSpPr>
          <p:cNvPr id="33" name="Rectangle 32">
            <a:extLst>
              <a:ext uri="{FF2B5EF4-FFF2-40B4-BE49-F238E27FC236}">
                <a16:creationId xmlns:a16="http://schemas.microsoft.com/office/drawing/2014/main" id="{8D39769E-E63B-67F0-4F9A-8682271897EC}"/>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01BFB68-E3D3-6F6F-7D6A-1401367F154F}"/>
              </a:ext>
            </a:extLst>
          </p:cNvPr>
          <p:cNvSpPr>
            <a:spLocks noGrp="1"/>
          </p:cNvSpPr>
          <p:nvPr>
            <p:ph idx="1"/>
          </p:nvPr>
        </p:nvSpPr>
        <p:spPr>
          <a:xfrm>
            <a:off x="838199" y="1177333"/>
            <a:ext cx="10925629" cy="4607063"/>
          </a:xfrm>
        </p:spPr>
        <p:txBody>
          <a:bodyPr>
            <a:normAutofit/>
          </a:bodyPr>
          <a:lstStyle/>
          <a:p>
            <a:pPr marL="0" indent="0">
              <a:buNone/>
            </a:pPr>
            <a:r>
              <a:rPr lang="en-US" sz="2400" dirty="0"/>
              <a:t>E.g.</a:t>
            </a:r>
          </a:p>
          <a:p>
            <a:pPr marL="0" indent="0">
              <a:buNone/>
            </a:pPr>
            <a:r>
              <a:rPr lang="en-US" sz="2400" dirty="0"/>
              <a:t>- Parallel sampling</a:t>
            </a:r>
          </a:p>
          <a:p>
            <a:pPr marL="0" indent="0">
              <a:buNone/>
            </a:pPr>
            <a:r>
              <a:rPr lang="en-US" sz="2400" dirty="0"/>
              <a:t>- Beam search</a:t>
            </a:r>
          </a:p>
          <a:p>
            <a:pPr marL="0" indent="0">
              <a:buNone/>
            </a:pPr>
            <a:r>
              <a:rPr lang="en-US" sz="2400" dirty="0"/>
              <a:t>…</a:t>
            </a:r>
          </a:p>
        </p:txBody>
      </p:sp>
    </p:spTree>
    <p:extLst>
      <p:ext uri="{BB962C8B-B14F-4D97-AF65-F5344CB8AC3E}">
        <p14:creationId xmlns:p14="http://schemas.microsoft.com/office/powerpoint/2010/main" val="3434007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336C3-CB79-B808-5D07-735E63646970}"/>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574CE217-58AA-E785-F3B9-7E977DBDF4A9}"/>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65D9D1A5-C6EB-264E-7EA6-2F7E2DB45C7F}"/>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Parallel Sampling</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89C2D15A-4DE0-E15B-0FD1-2C35C352F6FE}"/>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8214227D-3E04-A0D2-0785-F61CDD6448AB}"/>
              </a:ext>
            </a:extLst>
          </p:cNvPr>
          <p:cNvSpPr>
            <a:spLocks noGrp="1"/>
          </p:cNvSpPr>
          <p:nvPr>
            <p:ph type="sldNum" sz="quarter" idx="12"/>
          </p:nvPr>
        </p:nvSpPr>
        <p:spPr/>
        <p:txBody>
          <a:bodyPr/>
          <a:lstStyle/>
          <a:p>
            <a:fld id="{D8010B01-9828-43F1-AE47-DA7183CEE7B6}" type="slidenum">
              <a:rPr lang="en-US" smtClean="0"/>
              <a:t>37</a:t>
            </a:fld>
            <a:endParaRPr lang="en-US"/>
          </a:p>
        </p:txBody>
      </p:sp>
      <p:sp>
        <p:nvSpPr>
          <p:cNvPr id="33" name="Rectangle 32">
            <a:extLst>
              <a:ext uri="{FF2B5EF4-FFF2-40B4-BE49-F238E27FC236}">
                <a16:creationId xmlns:a16="http://schemas.microsoft.com/office/drawing/2014/main" id="{575539D6-38FE-01C5-443B-14144CE47493}"/>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78B452B-3D5F-0A97-B249-08B4D854BB6B}"/>
              </a:ext>
            </a:extLst>
          </p:cNvPr>
          <p:cNvPicPr>
            <a:picLocks noChangeAspect="1"/>
          </p:cNvPicPr>
          <p:nvPr/>
        </p:nvPicPr>
        <p:blipFill>
          <a:blip r:embed="rId4"/>
          <a:stretch>
            <a:fillRect/>
          </a:stretch>
        </p:blipFill>
        <p:spPr>
          <a:xfrm>
            <a:off x="838200" y="1865803"/>
            <a:ext cx="9808422" cy="3852825"/>
          </a:xfrm>
          <a:prstGeom prst="rect">
            <a:avLst/>
          </a:prstGeom>
        </p:spPr>
      </p:pic>
    </p:spTree>
    <p:extLst>
      <p:ext uri="{BB962C8B-B14F-4D97-AF65-F5344CB8AC3E}">
        <p14:creationId xmlns:p14="http://schemas.microsoft.com/office/powerpoint/2010/main" val="3028717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DC98A-FEF7-7754-7BC0-0A3EAEBDA8D4}"/>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79751F4E-B8DF-FD50-C84B-EE23BD23DC29}"/>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58EC6F37-13CE-BB44-7C28-4504D7FE7DA1}"/>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Parallel Sampling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6E85E9F0-C052-B516-E779-381A1BC7D445}"/>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460C24DB-E264-D395-7B1D-6B4FD1C672FC}"/>
              </a:ext>
            </a:extLst>
          </p:cNvPr>
          <p:cNvSpPr>
            <a:spLocks noGrp="1"/>
          </p:cNvSpPr>
          <p:nvPr>
            <p:ph type="sldNum" sz="quarter" idx="12"/>
          </p:nvPr>
        </p:nvSpPr>
        <p:spPr/>
        <p:txBody>
          <a:bodyPr/>
          <a:lstStyle/>
          <a:p>
            <a:fld id="{D8010B01-9828-43F1-AE47-DA7183CEE7B6}" type="slidenum">
              <a:rPr lang="en-US" smtClean="0"/>
              <a:t>38</a:t>
            </a:fld>
            <a:endParaRPr lang="en-US"/>
          </a:p>
        </p:txBody>
      </p:sp>
      <p:sp>
        <p:nvSpPr>
          <p:cNvPr id="33" name="Rectangle 32">
            <a:extLst>
              <a:ext uri="{FF2B5EF4-FFF2-40B4-BE49-F238E27FC236}">
                <a16:creationId xmlns:a16="http://schemas.microsoft.com/office/drawing/2014/main" id="{570CB798-78EA-4A4B-B906-33641810C12B}"/>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E384195-D578-A139-41F3-34D5813FF1C7}"/>
              </a:ext>
            </a:extLst>
          </p:cNvPr>
          <p:cNvPicPr>
            <a:picLocks noChangeAspect="1"/>
          </p:cNvPicPr>
          <p:nvPr/>
        </p:nvPicPr>
        <p:blipFill>
          <a:blip r:embed="rId4"/>
          <a:stretch>
            <a:fillRect/>
          </a:stretch>
        </p:blipFill>
        <p:spPr>
          <a:xfrm>
            <a:off x="977094" y="2615274"/>
            <a:ext cx="9395939" cy="3741076"/>
          </a:xfrm>
          <a:prstGeom prst="rect">
            <a:avLst/>
          </a:prstGeom>
        </p:spPr>
      </p:pic>
      <p:sp>
        <p:nvSpPr>
          <p:cNvPr id="8" name="Content Placeholder 2">
            <a:extLst>
              <a:ext uri="{FF2B5EF4-FFF2-40B4-BE49-F238E27FC236}">
                <a16:creationId xmlns:a16="http://schemas.microsoft.com/office/drawing/2014/main" id="{25731EA0-9D7D-AAC2-DCCD-72B647D91E80}"/>
              </a:ext>
            </a:extLst>
          </p:cNvPr>
          <p:cNvSpPr>
            <a:spLocks noGrp="1"/>
          </p:cNvSpPr>
          <p:nvPr>
            <p:ph idx="1"/>
          </p:nvPr>
        </p:nvSpPr>
        <p:spPr>
          <a:xfrm>
            <a:off x="838199" y="1177333"/>
            <a:ext cx="10925629" cy="4607063"/>
          </a:xfrm>
        </p:spPr>
        <p:txBody>
          <a:bodyPr>
            <a:normAutofit/>
          </a:bodyPr>
          <a:lstStyle/>
          <a:p>
            <a:r>
              <a:rPr lang="en-US" sz="2400" dirty="0"/>
              <a:t>Dynamic block mapping enables sharing of KV blocks</a:t>
            </a:r>
          </a:p>
          <a:p>
            <a:r>
              <a:rPr lang="en-US" sz="2400" dirty="0"/>
              <a:t>Reference count keeps track of the number of logical KV blocks that are mapped to each physical KV block</a:t>
            </a:r>
          </a:p>
        </p:txBody>
      </p:sp>
    </p:spTree>
    <p:extLst>
      <p:ext uri="{BB962C8B-B14F-4D97-AF65-F5344CB8AC3E}">
        <p14:creationId xmlns:p14="http://schemas.microsoft.com/office/powerpoint/2010/main" val="2775939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B14D1-DFA2-961A-E3FC-58CD2062D503}"/>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048B692A-07C4-7C74-AF2F-E40ECF3FC3A7}"/>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EFD833B-DD32-8DD1-84D9-A251C2C58DBC}"/>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Parallel Sampling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E4741F34-4E3D-A0D1-478B-B412A6801C6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020EDE60-37F1-4A58-9BE2-34F4B9274F66}"/>
              </a:ext>
            </a:extLst>
          </p:cNvPr>
          <p:cNvSpPr>
            <a:spLocks noGrp="1"/>
          </p:cNvSpPr>
          <p:nvPr>
            <p:ph type="sldNum" sz="quarter" idx="12"/>
          </p:nvPr>
        </p:nvSpPr>
        <p:spPr/>
        <p:txBody>
          <a:bodyPr/>
          <a:lstStyle/>
          <a:p>
            <a:fld id="{D8010B01-9828-43F1-AE47-DA7183CEE7B6}" type="slidenum">
              <a:rPr lang="en-US" smtClean="0"/>
              <a:t>39</a:t>
            </a:fld>
            <a:endParaRPr lang="en-US"/>
          </a:p>
        </p:txBody>
      </p:sp>
      <p:sp>
        <p:nvSpPr>
          <p:cNvPr id="33" name="Rectangle 32">
            <a:extLst>
              <a:ext uri="{FF2B5EF4-FFF2-40B4-BE49-F238E27FC236}">
                <a16:creationId xmlns:a16="http://schemas.microsoft.com/office/drawing/2014/main" id="{895234AF-D9AE-87EC-AC52-2802B41F1528}"/>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A46B04F3-DEEC-000A-ECF4-6589F9924C8A}"/>
              </a:ext>
            </a:extLst>
          </p:cNvPr>
          <p:cNvSpPr>
            <a:spLocks noGrp="1"/>
          </p:cNvSpPr>
          <p:nvPr>
            <p:ph idx="1"/>
          </p:nvPr>
        </p:nvSpPr>
        <p:spPr>
          <a:xfrm>
            <a:off x="838199" y="1177333"/>
            <a:ext cx="10925629" cy="4607063"/>
          </a:xfrm>
        </p:spPr>
        <p:txBody>
          <a:bodyPr>
            <a:normAutofit/>
          </a:bodyPr>
          <a:lstStyle/>
          <a:p>
            <a:r>
              <a:rPr lang="en-US" dirty="0"/>
              <a:t>At the generation phase, copy-on-write copies info to a newly allocated physical KV block when reference count &gt; 1</a:t>
            </a:r>
          </a:p>
        </p:txBody>
      </p:sp>
      <p:pic>
        <p:nvPicPr>
          <p:cNvPr id="9" name="Picture 8">
            <a:extLst>
              <a:ext uri="{FF2B5EF4-FFF2-40B4-BE49-F238E27FC236}">
                <a16:creationId xmlns:a16="http://schemas.microsoft.com/office/drawing/2014/main" id="{DF2D56D5-A5BB-5825-339F-23051D12E43E}"/>
              </a:ext>
            </a:extLst>
          </p:cNvPr>
          <p:cNvPicPr>
            <a:picLocks noChangeAspect="1"/>
          </p:cNvPicPr>
          <p:nvPr/>
        </p:nvPicPr>
        <p:blipFill>
          <a:blip r:embed="rId4"/>
          <a:stretch>
            <a:fillRect/>
          </a:stretch>
        </p:blipFill>
        <p:spPr>
          <a:xfrm>
            <a:off x="1079594" y="2732968"/>
            <a:ext cx="9090607" cy="3724982"/>
          </a:xfrm>
          <a:prstGeom prst="rect">
            <a:avLst/>
          </a:prstGeom>
        </p:spPr>
      </p:pic>
    </p:spTree>
    <p:extLst>
      <p:ext uri="{BB962C8B-B14F-4D97-AF65-F5344CB8AC3E}">
        <p14:creationId xmlns:p14="http://schemas.microsoft.com/office/powerpoint/2010/main" val="2750697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6321-5D74-BAC3-0A98-BE7A495C3AD3}"/>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DF937142-1C1B-B1FC-0221-BC75B4E8524F}"/>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53CD541-C308-FA90-1E6A-08C5F0094A3C}"/>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Parallel Sampling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EFC05CA5-AAD2-F0A4-1097-79C5D0B17145}"/>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5F5F9637-5D53-ED5F-885E-889996AD6531}"/>
              </a:ext>
            </a:extLst>
          </p:cNvPr>
          <p:cNvSpPr>
            <a:spLocks noGrp="1"/>
          </p:cNvSpPr>
          <p:nvPr>
            <p:ph type="sldNum" sz="quarter" idx="12"/>
          </p:nvPr>
        </p:nvSpPr>
        <p:spPr/>
        <p:txBody>
          <a:bodyPr/>
          <a:lstStyle/>
          <a:p>
            <a:fld id="{D8010B01-9828-43F1-AE47-DA7183CEE7B6}" type="slidenum">
              <a:rPr lang="en-US" smtClean="0"/>
              <a:t>40</a:t>
            </a:fld>
            <a:endParaRPr lang="en-US"/>
          </a:p>
        </p:txBody>
      </p:sp>
      <p:sp>
        <p:nvSpPr>
          <p:cNvPr id="33" name="Rectangle 32">
            <a:extLst>
              <a:ext uri="{FF2B5EF4-FFF2-40B4-BE49-F238E27FC236}">
                <a16:creationId xmlns:a16="http://schemas.microsoft.com/office/drawing/2014/main" id="{5AEA0CCC-C1E1-01C5-6D04-58C3A54BBA98}"/>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94AA0163-13CC-59FD-9586-CED3A39B1FBF}"/>
              </a:ext>
            </a:extLst>
          </p:cNvPr>
          <p:cNvSpPr>
            <a:spLocks noGrp="1"/>
          </p:cNvSpPr>
          <p:nvPr>
            <p:ph idx="1"/>
          </p:nvPr>
        </p:nvSpPr>
        <p:spPr>
          <a:xfrm>
            <a:off x="838199" y="1177333"/>
            <a:ext cx="10925629" cy="4607063"/>
          </a:xfrm>
        </p:spPr>
        <p:txBody>
          <a:bodyPr>
            <a:normAutofit/>
          </a:bodyPr>
          <a:lstStyle/>
          <a:p>
            <a:r>
              <a:rPr lang="en-US" dirty="0"/>
              <a:t>At the generation phase, copy-on-write copies info to a newly allocated physical KV block when reference count &gt; 1</a:t>
            </a:r>
          </a:p>
        </p:txBody>
      </p:sp>
      <p:pic>
        <p:nvPicPr>
          <p:cNvPr id="4" name="Picture 3">
            <a:extLst>
              <a:ext uri="{FF2B5EF4-FFF2-40B4-BE49-F238E27FC236}">
                <a16:creationId xmlns:a16="http://schemas.microsoft.com/office/drawing/2014/main" id="{B5F9E33D-6377-A653-CA77-75362B1D1701}"/>
              </a:ext>
            </a:extLst>
          </p:cNvPr>
          <p:cNvPicPr>
            <a:picLocks noChangeAspect="1"/>
          </p:cNvPicPr>
          <p:nvPr/>
        </p:nvPicPr>
        <p:blipFill>
          <a:blip r:embed="rId4"/>
          <a:stretch>
            <a:fillRect/>
          </a:stretch>
        </p:blipFill>
        <p:spPr>
          <a:xfrm>
            <a:off x="1035827" y="2532610"/>
            <a:ext cx="9236075" cy="3744923"/>
          </a:xfrm>
          <a:prstGeom prst="rect">
            <a:avLst/>
          </a:prstGeom>
        </p:spPr>
      </p:pic>
    </p:spTree>
    <p:extLst>
      <p:ext uri="{BB962C8B-B14F-4D97-AF65-F5344CB8AC3E}">
        <p14:creationId xmlns:p14="http://schemas.microsoft.com/office/powerpoint/2010/main" val="378365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1101-B279-7F10-C8A8-3ED08D28FC16}"/>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57BB085A-0141-416A-80F5-E2BF17B2721A}"/>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CDCCAED5-7341-0167-CFEB-A2C8188A8B88}"/>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Parallel Sampling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CDE8779A-27FA-15DE-C237-6C2623012279}"/>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D04629FB-BDDD-6E14-68EB-3E11E2A889B5}"/>
              </a:ext>
            </a:extLst>
          </p:cNvPr>
          <p:cNvSpPr>
            <a:spLocks noGrp="1"/>
          </p:cNvSpPr>
          <p:nvPr>
            <p:ph type="sldNum" sz="quarter" idx="12"/>
          </p:nvPr>
        </p:nvSpPr>
        <p:spPr/>
        <p:txBody>
          <a:bodyPr/>
          <a:lstStyle/>
          <a:p>
            <a:fld id="{D8010B01-9828-43F1-AE47-DA7183CEE7B6}" type="slidenum">
              <a:rPr lang="en-US" smtClean="0"/>
              <a:t>41</a:t>
            </a:fld>
            <a:endParaRPr lang="en-US"/>
          </a:p>
        </p:txBody>
      </p:sp>
      <p:sp>
        <p:nvSpPr>
          <p:cNvPr id="33" name="Rectangle 32">
            <a:extLst>
              <a:ext uri="{FF2B5EF4-FFF2-40B4-BE49-F238E27FC236}">
                <a16:creationId xmlns:a16="http://schemas.microsoft.com/office/drawing/2014/main" id="{D7FF01EB-9D6C-51EA-D1C3-6822FBCB364A}"/>
              </a:ext>
            </a:extLst>
          </p:cNvPr>
          <p:cNvSpPr/>
          <p:nvPr/>
        </p:nvSpPr>
        <p:spPr>
          <a:xfrm>
            <a:off x="1150257" y="3741914"/>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9DF5B53-7D7B-D664-A83C-A66A80B3DF8A}"/>
              </a:ext>
            </a:extLst>
          </p:cNvPr>
          <p:cNvPicPr>
            <a:picLocks noChangeAspect="1"/>
          </p:cNvPicPr>
          <p:nvPr/>
        </p:nvPicPr>
        <p:blipFill>
          <a:blip r:embed="rId4"/>
          <a:stretch>
            <a:fillRect/>
          </a:stretch>
        </p:blipFill>
        <p:spPr>
          <a:xfrm>
            <a:off x="765706" y="1506276"/>
            <a:ext cx="10660588" cy="4480867"/>
          </a:xfrm>
          <a:prstGeom prst="rect">
            <a:avLst/>
          </a:prstGeom>
        </p:spPr>
      </p:pic>
      <p:sp>
        <p:nvSpPr>
          <p:cNvPr id="11" name="Rectangle 10">
            <a:extLst>
              <a:ext uri="{FF2B5EF4-FFF2-40B4-BE49-F238E27FC236}">
                <a16:creationId xmlns:a16="http://schemas.microsoft.com/office/drawing/2014/main" id="{EFCA8CBA-5823-8817-79A0-8E4F4BE291FB}"/>
              </a:ext>
            </a:extLst>
          </p:cNvPr>
          <p:cNvSpPr/>
          <p:nvPr/>
        </p:nvSpPr>
        <p:spPr>
          <a:xfrm>
            <a:off x="4354286" y="3741914"/>
            <a:ext cx="3635828" cy="23540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7475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78F37-219D-C2DF-CAA8-E48EA72FCFA1}"/>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231DF5C2-FABA-A5C2-A631-D7437EB68BD2}"/>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B7512B5-9DBA-7CA7-F861-3A437F1D2C4F}"/>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Parallel Sampling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17D2E8FD-6B47-C484-7E05-C6ECC2E75EDF}"/>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F6BEF35C-9F28-A07D-DC36-6B85A9BDFDBA}"/>
              </a:ext>
            </a:extLst>
          </p:cNvPr>
          <p:cNvSpPr>
            <a:spLocks noGrp="1"/>
          </p:cNvSpPr>
          <p:nvPr>
            <p:ph type="sldNum" sz="quarter" idx="12"/>
          </p:nvPr>
        </p:nvSpPr>
        <p:spPr/>
        <p:txBody>
          <a:bodyPr/>
          <a:lstStyle/>
          <a:p>
            <a:fld id="{D8010B01-9828-43F1-AE47-DA7183CEE7B6}" type="slidenum">
              <a:rPr lang="en-US" smtClean="0"/>
              <a:t>42</a:t>
            </a:fld>
            <a:endParaRPr lang="en-US"/>
          </a:p>
        </p:txBody>
      </p:sp>
      <p:sp>
        <p:nvSpPr>
          <p:cNvPr id="33" name="Rectangle 32">
            <a:extLst>
              <a:ext uri="{FF2B5EF4-FFF2-40B4-BE49-F238E27FC236}">
                <a16:creationId xmlns:a16="http://schemas.microsoft.com/office/drawing/2014/main" id="{2FDCA7E2-55C8-358C-C554-1A7FD25B7737}"/>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0D6EC42-111B-A268-6EFD-29E614EDCA9E}"/>
              </a:ext>
            </a:extLst>
          </p:cNvPr>
          <p:cNvPicPr>
            <a:picLocks noChangeAspect="1"/>
          </p:cNvPicPr>
          <p:nvPr/>
        </p:nvPicPr>
        <p:blipFill>
          <a:blip r:embed="rId4"/>
          <a:stretch>
            <a:fillRect/>
          </a:stretch>
        </p:blipFill>
        <p:spPr>
          <a:xfrm>
            <a:off x="771583" y="1506276"/>
            <a:ext cx="10660588" cy="4480867"/>
          </a:xfrm>
          <a:prstGeom prst="rect">
            <a:avLst/>
          </a:prstGeom>
        </p:spPr>
      </p:pic>
    </p:spTree>
    <p:extLst>
      <p:ext uri="{BB962C8B-B14F-4D97-AF65-F5344CB8AC3E}">
        <p14:creationId xmlns:p14="http://schemas.microsoft.com/office/powerpoint/2010/main" val="3700887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E0389-4529-13E6-EFA7-9ACADFA5D53E}"/>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A8FB73CA-46DB-44B9-D22F-7B0811867A7B}"/>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E0DB7DD-CB3A-5AD2-99D3-0979F09DEC40}"/>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Beam Search</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C66697EF-4AD9-DACC-ED87-47D8470FA24B}"/>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E9125FBA-F785-0D46-FBDC-70AEFB91268E}"/>
              </a:ext>
            </a:extLst>
          </p:cNvPr>
          <p:cNvSpPr>
            <a:spLocks noGrp="1"/>
          </p:cNvSpPr>
          <p:nvPr>
            <p:ph type="sldNum" sz="quarter" idx="12"/>
          </p:nvPr>
        </p:nvSpPr>
        <p:spPr/>
        <p:txBody>
          <a:bodyPr/>
          <a:lstStyle/>
          <a:p>
            <a:fld id="{D8010B01-9828-43F1-AE47-DA7183CEE7B6}" type="slidenum">
              <a:rPr lang="en-US" smtClean="0"/>
              <a:t>43</a:t>
            </a:fld>
            <a:endParaRPr lang="en-US"/>
          </a:p>
        </p:txBody>
      </p:sp>
      <p:sp>
        <p:nvSpPr>
          <p:cNvPr id="33" name="Rectangle 32">
            <a:extLst>
              <a:ext uri="{FF2B5EF4-FFF2-40B4-BE49-F238E27FC236}">
                <a16:creationId xmlns:a16="http://schemas.microsoft.com/office/drawing/2014/main" id="{FA0109A4-4506-5157-4618-F98A59A01F6A}"/>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B12E269-3A32-C60D-CB1D-C4AF8A337B40}"/>
              </a:ext>
            </a:extLst>
          </p:cNvPr>
          <p:cNvPicPr>
            <a:picLocks noChangeAspect="1"/>
          </p:cNvPicPr>
          <p:nvPr/>
        </p:nvPicPr>
        <p:blipFill>
          <a:blip r:embed="rId4"/>
          <a:stretch>
            <a:fillRect/>
          </a:stretch>
        </p:blipFill>
        <p:spPr>
          <a:xfrm>
            <a:off x="1430839" y="1492008"/>
            <a:ext cx="8551361" cy="4371763"/>
          </a:xfrm>
          <a:prstGeom prst="rect">
            <a:avLst/>
          </a:prstGeom>
        </p:spPr>
      </p:pic>
    </p:spTree>
    <p:extLst>
      <p:ext uri="{BB962C8B-B14F-4D97-AF65-F5344CB8AC3E}">
        <p14:creationId xmlns:p14="http://schemas.microsoft.com/office/powerpoint/2010/main" val="646154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3C273-7E10-127D-8310-92FA87EE35A0}"/>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7E833293-9C4B-90A8-9D57-02EE4733B99F}"/>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24CC211D-93BA-2E50-CAD7-8EE71EDB9B01}"/>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Beam Search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A1247A50-FCE7-9C46-D5FF-30DE990D2AC0}"/>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C08F0CA1-2E1F-406E-7697-239C271DB198}"/>
              </a:ext>
            </a:extLst>
          </p:cNvPr>
          <p:cNvSpPr>
            <a:spLocks noGrp="1"/>
          </p:cNvSpPr>
          <p:nvPr>
            <p:ph type="sldNum" sz="quarter" idx="12"/>
          </p:nvPr>
        </p:nvSpPr>
        <p:spPr/>
        <p:txBody>
          <a:bodyPr/>
          <a:lstStyle/>
          <a:p>
            <a:fld id="{D8010B01-9828-43F1-AE47-DA7183CEE7B6}" type="slidenum">
              <a:rPr lang="en-US" smtClean="0"/>
              <a:t>44</a:t>
            </a:fld>
            <a:endParaRPr lang="en-US"/>
          </a:p>
        </p:txBody>
      </p:sp>
      <p:sp>
        <p:nvSpPr>
          <p:cNvPr id="33" name="Rectangle 32">
            <a:extLst>
              <a:ext uri="{FF2B5EF4-FFF2-40B4-BE49-F238E27FC236}">
                <a16:creationId xmlns:a16="http://schemas.microsoft.com/office/drawing/2014/main" id="{E70A2CEB-ED7F-8F72-5035-0B6E0A28516A}"/>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073C310-59DD-049B-389A-A544D5397BD1}"/>
              </a:ext>
            </a:extLst>
          </p:cNvPr>
          <p:cNvPicPr>
            <a:picLocks noChangeAspect="1"/>
          </p:cNvPicPr>
          <p:nvPr/>
        </p:nvPicPr>
        <p:blipFill>
          <a:blip r:embed="rId4"/>
          <a:stretch>
            <a:fillRect/>
          </a:stretch>
        </p:blipFill>
        <p:spPr>
          <a:xfrm>
            <a:off x="654837" y="1521035"/>
            <a:ext cx="10541959" cy="4451593"/>
          </a:xfrm>
          <a:prstGeom prst="rect">
            <a:avLst/>
          </a:prstGeom>
        </p:spPr>
      </p:pic>
    </p:spTree>
    <p:extLst>
      <p:ext uri="{BB962C8B-B14F-4D97-AF65-F5344CB8AC3E}">
        <p14:creationId xmlns:p14="http://schemas.microsoft.com/office/powerpoint/2010/main" val="167100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36EA4-32EA-7F44-44DA-3A724C85E783}"/>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77B6A96F-5180-B03B-DC3B-3AB71876B272}"/>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C85C3568-9704-F1CE-09C0-D224C5D6B299}"/>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Beam Search with </a:t>
            </a:r>
            <a:r>
              <a:rPr lang="en-US" sz="3200" u="none" strike="noStrike" cap="none" dirty="0" err="1">
                <a:solidFill>
                  <a:schemeClr val="lt1"/>
                </a:solidFill>
                <a:latin typeface="+mn-lt"/>
                <a:ea typeface="Helvetica Neue Light"/>
                <a:cs typeface="Helvetica Neue Light"/>
                <a:sym typeface="Helvetica Neue Light"/>
              </a:rPr>
              <a:t>PagedAttention</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E7A0747F-946D-9288-69AA-0E8EB33A18EC}"/>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F4651152-B4FE-9ADA-2EEB-45CAB25B3DE9}"/>
              </a:ext>
            </a:extLst>
          </p:cNvPr>
          <p:cNvSpPr>
            <a:spLocks noGrp="1"/>
          </p:cNvSpPr>
          <p:nvPr>
            <p:ph type="sldNum" sz="quarter" idx="12"/>
          </p:nvPr>
        </p:nvSpPr>
        <p:spPr/>
        <p:txBody>
          <a:bodyPr/>
          <a:lstStyle/>
          <a:p>
            <a:fld id="{D8010B01-9828-43F1-AE47-DA7183CEE7B6}" type="slidenum">
              <a:rPr lang="en-US" smtClean="0"/>
              <a:t>45</a:t>
            </a:fld>
            <a:endParaRPr lang="en-US"/>
          </a:p>
        </p:txBody>
      </p:sp>
      <p:sp>
        <p:nvSpPr>
          <p:cNvPr id="33" name="Rectangle 32">
            <a:extLst>
              <a:ext uri="{FF2B5EF4-FFF2-40B4-BE49-F238E27FC236}">
                <a16:creationId xmlns:a16="http://schemas.microsoft.com/office/drawing/2014/main" id="{ABCB4489-42B2-0120-0B37-BBC9474197D0}"/>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32E406D-FAA2-9078-0A72-01FBEAC29824}"/>
              </a:ext>
            </a:extLst>
          </p:cNvPr>
          <p:cNvPicPr>
            <a:picLocks noChangeAspect="1"/>
          </p:cNvPicPr>
          <p:nvPr/>
        </p:nvPicPr>
        <p:blipFill>
          <a:blip r:embed="rId4"/>
          <a:stretch>
            <a:fillRect/>
          </a:stretch>
        </p:blipFill>
        <p:spPr>
          <a:xfrm>
            <a:off x="779761" y="1609471"/>
            <a:ext cx="10451019" cy="4363158"/>
          </a:xfrm>
          <a:prstGeom prst="rect">
            <a:avLst/>
          </a:prstGeom>
        </p:spPr>
      </p:pic>
    </p:spTree>
    <p:extLst>
      <p:ext uri="{BB962C8B-B14F-4D97-AF65-F5344CB8AC3E}">
        <p14:creationId xmlns:p14="http://schemas.microsoft.com/office/powerpoint/2010/main" val="28846576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7825B-4697-AC08-2F8D-ACFA7176220B}"/>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EECEA51B-DAF1-D1E4-D818-4CE77E1233EC}"/>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70536B1-4ADD-74EC-609A-1C52F7B74798}"/>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Limitations?</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CFA255F9-D768-A7CF-84AB-6FBC4A92E088}"/>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8CA2AFA3-4252-E63D-0E36-D26C9F951E97}"/>
              </a:ext>
            </a:extLst>
          </p:cNvPr>
          <p:cNvSpPr>
            <a:spLocks noGrp="1"/>
          </p:cNvSpPr>
          <p:nvPr>
            <p:ph type="sldNum" sz="quarter" idx="12"/>
          </p:nvPr>
        </p:nvSpPr>
        <p:spPr/>
        <p:txBody>
          <a:bodyPr/>
          <a:lstStyle/>
          <a:p>
            <a:fld id="{D8010B01-9828-43F1-AE47-DA7183CEE7B6}" type="slidenum">
              <a:rPr lang="en-US" smtClean="0"/>
              <a:t>46</a:t>
            </a:fld>
            <a:endParaRPr lang="en-US"/>
          </a:p>
        </p:txBody>
      </p:sp>
      <p:sp>
        <p:nvSpPr>
          <p:cNvPr id="33" name="Rectangle 32">
            <a:extLst>
              <a:ext uri="{FF2B5EF4-FFF2-40B4-BE49-F238E27FC236}">
                <a16:creationId xmlns:a16="http://schemas.microsoft.com/office/drawing/2014/main" id="{A013860E-9AA1-15A0-8165-8007C3DD7956}"/>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74482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05A7-AA5B-0B9B-5B7C-9BDA4B5627BB}"/>
            </a:ext>
          </a:extLst>
        </p:cNvPr>
        <p:cNvGrpSpPr/>
        <p:nvPr/>
      </p:nvGrpSpPr>
      <p:grpSpPr>
        <a:xfrm>
          <a:off x="0" y="0"/>
          <a:ext cx="0" cy="0"/>
          <a:chOff x="0" y="0"/>
          <a:chExt cx="0" cy="0"/>
        </a:xfrm>
      </p:grpSpPr>
      <p:sp>
        <p:nvSpPr>
          <p:cNvPr id="5" name="Google Shape;145;p7">
            <a:extLst>
              <a:ext uri="{FF2B5EF4-FFF2-40B4-BE49-F238E27FC236}">
                <a16:creationId xmlns:a16="http://schemas.microsoft.com/office/drawing/2014/main" id="{5EC415F3-3F91-993B-30CB-1B3842333A1A}"/>
              </a:ext>
            </a:extLst>
          </p:cNvPr>
          <p:cNvSpPr/>
          <p:nvPr/>
        </p:nvSpPr>
        <p:spPr>
          <a:xfrm rot="10800000" flipH="1">
            <a:off x="0" y="-8297"/>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6" name="Google Shape;100;p1">
            <a:extLst>
              <a:ext uri="{FF2B5EF4-FFF2-40B4-BE49-F238E27FC236}">
                <a16:creationId xmlns:a16="http://schemas.microsoft.com/office/drawing/2014/main" id="{93C34A1E-9D1F-AB2B-D4C8-E2EBABAABE0B}"/>
              </a:ext>
            </a:extLst>
          </p:cNvPr>
          <p:cNvSpPr txBox="1"/>
          <p:nvPr/>
        </p:nvSpPr>
        <p:spPr>
          <a:xfrm>
            <a:off x="363183" y="133446"/>
            <a:ext cx="10910026"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200" u="none" strike="noStrike" cap="none" dirty="0">
                <a:solidFill>
                  <a:schemeClr val="lt1"/>
                </a:solidFill>
                <a:latin typeface="+mn-lt"/>
                <a:ea typeface="Helvetica Neue Light"/>
                <a:cs typeface="Helvetica Neue Light"/>
                <a:sym typeface="Helvetica Neue Light"/>
              </a:rPr>
              <a:t>Main Takeaways</a:t>
            </a:r>
            <a:endParaRPr lang="en-US" sz="3200" dirty="0">
              <a:solidFill>
                <a:schemeClr val="lt1"/>
              </a:solidFill>
              <a:latin typeface="+mn-lt"/>
              <a:ea typeface="Helvetica Neue Light"/>
              <a:cs typeface="Helvetica Neue Light"/>
              <a:sym typeface="Helvetica Neue Light"/>
            </a:endParaRPr>
          </a:p>
        </p:txBody>
      </p:sp>
      <p:pic>
        <p:nvPicPr>
          <p:cNvPr id="7" name="Picture 6">
            <a:extLst>
              <a:ext uri="{FF2B5EF4-FFF2-40B4-BE49-F238E27FC236}">
                <a16:creationId xmlns:a16="http://schemas.microsoft.com/office/drawing/2014/main" id="{3B159D31-CCCF-72F7-F983-2F7999291852}"/>
              </a:ext>
            </a:extLst>
          </p:cNvPr>
          <p:cNvPicPr>
            <a:picLocks noChangeAspect="1"/>
          </p:cNvPicPr>
          <p:nvPr/>
        </p:nvPicPr>
        <p:blipFill>
          <a:blip r:embed="rId3"/>
          <a:stretch>
            <a:fillRect/>
          </a:stretch>
        </p:blipFill>
        <p:spPr>
          <a:xfrm>
            <a:off x="11557509" y="233819"/>
            <a:ext cx="271308" cy="389810"/>
          </a:xfrm>
          <a:prstGeom prst="rect">
            <a:avLst/>
          </a:prstGeom>
        </p:spPr>
      </p:pic>
      <p:sp>
        <p:nvSpPr>
          <p:cNvPr id="2" name="Slide Number Placeholder 1">
            <a:extLst>
              <a:ext uri="{FF2B5EF4-FFF2-40B4-BE49-F238E27FC236}">
                <a16:creationId xmlns:a16="http://schemas.microsoft.com/office/drawing/2014/main" id="{C58E03C6-B552-5671-434A-6096D3C59CEB}"/>
              </a:ext>
            </a:extLst>
          </p:cNvPr>
          <p:cNvSpPr>
            <a:spLocks noGrp="1"/>
          </p:cNvSpPr>
          <p:nvPr>
            <p:ph type="sldNum" sz="quarter" idx="12"/>
          </p:nvPr>
        </p:nvSpPr>
        <p:spPr/>
        <p:txBody>
          <a:bodyPr/>
          <a:lstStyle/>
          <a:p>
            <a:fld id="{D8010B01-9828-43F1-AE47-DA7183CEE7B6}" type="slidenum">
              <a:rPr lang="en-US" smtClean="0"/>
              <a:t>47</a:t>
            </a:fld>
            <a:endParaRPr lang="en-US"/>
          </a:p>
        </p:txBody>
      </p:sp>
      <p:sp>
        <p:nvSpPr>
          <p:cNvPr id="33" name="Rectangle 32">
            <a:extLst>
              <a:ext uri="{FF2B5EF4-FFF2-40B4-BE49-F238E27FC236}">
                <a16:creationId xmlns:a16="http://schemas.microsoft.com/office/drawing/2014/main" id="{F2D6E119-02BA-A3D3-C8F2-8B177452BF09}"/>
              </a:ext>
            </a:extLst>
          </p:cNvPr>
          <p:cNvSpPr/>
          <p:nvPr/>
        </p:nvSpPr>
        <p:spPr>
          <a:xfrm>
            <a:off x="838200" y="4405072"/>
            <a:ext cx="5386137" cy="22452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772965-FFC7-9E11-FB2B-C881B3E4D738}"/>
              </a:ext>
            </a:extLst>
          </p:cNvPr>
          <p:cNvSpPr>
            <a:spLocks noGrp="1"/>
          </p:cNvSpPr>
          <p:nvPr>
            <p:ph idx="1"/>
          </p:nvPr>
        </p:nvSpPr>
        <p:spPr>
          <a:xfrm>
            <a:off x="838199" y="1632857"/>
            <a:ext cx="10925629" cy="4151539"/>
          </a:xfrm>
        </p:spPr>
        <p:txBody>
          <a:bodyPr>
            <a:normAutofit/>
          </a:bodyPr>
          <a:lstStyle/>
          <a:p>
            <a:r>
              <a:rPr lang="en-US" dirty="0"/>
              <a:t>Reduces memory fragmentation with paging</a:t>
            </a:r>
          </a:p>
          <a:p>
            <a:r>
              <a:rPr lang="en-US" dirty="0"/>
              <a:t>Reduces memory usage with KV block sharing</a:t>
            </a:r>
          </a:p>
          <a:p>
            <a:r>
              <a:rPr lang="en-US" dirty="0"/>
              <a:t>Enables batching of more requests, increasing the throughput of LLM inference</a:t>
            </a:r>
          </a:p>
        </p:txBody>
      </p:sp>
    </p:spTree>
    <p:extLst>
      <p:ext uri="{BB962C8B-B14F-4D97-AF65-F5344CB8AC3E}">
        <p14:creationId xmlns:p14="http://schemas.microsoft.com/office/powerpoint/2010/main" val="25657183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5350A45E-AA01-6009-F301-80107A89DAED}"/>
            </a:ext>
          </a:extLst>
        </p:cNvPr>
        <p:cNvGrpSpPr/>
        <p:nvPr/>
      </p:nvGrpSpPr>
      <p:grpSpPr>
        <a:xfrm>
          <a:off x="0" y="0"/>
          <a:ext cx="0" cy="0"/>
          <a:chOff x="0" y="0"/>
          <a:chExt cx="0" cy="0"/>
        </a:xfrm>
      </p:grpSpPr>
      <p:sp>
        <p:nvSpPr>
          <p:cNvPr id="24" name="Google Shape;145;p7">
            <a:extLst>
              <a:ext uri="{FF2B5EF4-FFF2-40B4-BE49-F238E27FC236}">
                <a16:creationId xmlns:a16="http://schemas.microsoft.com/office/drawing/2014/main" id="{51B15942-1B5F-7D3C-1B45-EC6A954A7A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0C2BD5A1-2138-285B-BB43-790000FA0A45}"/>
              </a:ext>
            </a:extLst>
          </p:cNvPr>
          <p:cNvPicPr>
            <a:picLocks noChangeAspect="1"/>
          </p:cNvPicPr>
          <p:nvPr/>
        </p:nvPicPr>
        <p:blipFill>
          <a:blip r:embed="rId3"/>
          <a:stretch>
            <a:fillRect/>
          </a:stretch>
        </p:blipFill>
        <p:spPr>
          <a:xfrm>
            <a:off x="11557509" y="233819"/>
            <a:ext cx="271308" cy="389810"/>
          </a:xfrm>
          <a:prstGeom prst="rect">
            <a:avLst/>
          </a:prstGeom>
        </p:spPr>
      </p:pic>
      <p:sp>
        <p:nvSpPr>
          <p:cNvPr id="3" name="Google Shape;100;p1">
            <a:extLst>
              <a:ext uri="{FF2B5EF4-FFF2-40B4-BE49-F238E27FC236}">
                <a16:creationId xmlns:a16="http://schemas.microsoft.com/office/drawing/2014/main" id="{AEFB5194-4C8B-570D-0797-0BA33024498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rgbClr val="13294B"/>
                </a:solidFill>
                <a:ea typeface="Helvetica Neue Light"/>
                <a:cs typeface="Helvetica Neue Light"/>
                <a:sym typeface="Helvetica Neue Light"/>
              </a:rPr>
              <a:t>GRAINGER ENGINEERING</a:t>
            </a:r>
          </a:p>
        </p:txBody>
      </p:sp>
      <p:sp>
        <p:nvSpPr>
          <p:cNvPr id="4" name="Google Shape;100;p1">
            <a:extLst>
              <a:ext uri="{FF2B5EF4-FFF2-40B4-BE49-F238E27FC236}">
                <a16:creationId xmlns:a16="http://schemas.microsoft.com/office/drawing/2014/main" id="{5768BD54-863A-1466-1646-BBE5A6A766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rgbClr val="13294B"/>
                </a:solidFill>
                <a:ea typeface="Helvetica Neue Light"/>
                <a:cs typeface="Helvetica Neue Light"/>
                <a:sym typeface="Helvetica Neue Light"/>
              </a:rPr>
              <a:t>COMPUTER SCIENCE</a:t>
            </a:r>
          </a:p>
        </p:txBody>
      </p:sp>
      <p:sp>
        <p:nvSpPr>
          <p:cNvPr id="6" name="Content Placeholder 2">
            <a:extLst>
              <a:ext uri="{FF2B5EF4-FFF2-40B4-BE49-F238E27FC236}">
                <a16:creationId xmlns:a16="http://schemas.microsoft.com/office/drawing/2014/main" id="{99657B2B-82C7-2740-3792-489F8F399118}"/>
              </a:ext>
            </a:extLst>
          </p:cNvPr>
          <p:cNvSpPr>
            <a:spLocks noGrp="1"/>
          </p:cNvSpPr>
          <p:nvPr>
            <p:ph idx="1"/>
          </p:nvPr>
        </p:nvSpPr>
        <p:spPr>
          <a:xfrm>
            <a:off x="3540370" y="2989623"/>
            <a:ext cx="4368800" cy="3187340"/>
          </a:xfrm>
        </p:spPr>
        <p:txBody>
          <a:bodyPr/>
          <a:lstStyle/>
          <a:p>
            <a:pPr marL="0" indent="0">
              <a:buNone/>
            </a:pPr>
            <a:r>
              <a:rPr lang="en-US" sz="4400" b="1" dirty="0"/>
              <a:t>Questions?</a:t>
            </a:r>
          </a:p>
        </p:txBody>
      </p:sp>
      <p:sp>
        <p:nvSpPr>
          <p:cNvPr id="9" name="Slide Number Placeholder 8">
            <a:extLst>
              <a:ext uri="{FF2B5EF4-FFF2-40B4-BE49-F238E27FC236}">
                <a16:creationId xmlns:a16="http://schemas.microsoft.com/office/drawing/2014/main" id="{D1ED2DE9-C31C-042F-8190-6F3DCE811B3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48</a:t>
            </a:fld>
            <a:endParaRPr lang="en-US" dirty="0"/>
          </a:p>
        </p:txBody>
      </p:sp>
    </p:spTree>
    <p:extLst>
      <p:ext uri="{BB962C8B-B14F-4D97-AF65-F5344CB8AC3E}">
        <p14:creationId xmlns:p14="http://schemas.microsoft.com/office/powerpoint/2010/main" val="257877234"/>
      </p:ext>
    </p:extLst>
  </p:cSld>
  <p:clrMapOvr>
    <a:masterClrMapping/>
  </p:clrMapOvr>
</p:sld>
</file>

<file path=ppt/theme/theme1.xml><?xml version="1.0" encoding="utf-8"?>
<a:theme xmlns:a="http://schemas.openxmlformats.org/drawingml/2006/main" name="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3.potx" id="{7F80CEA6-658B-4A62-A6C9-08553DB8EADD}" vid="{6432A491-F935-4549-8682-F4D67DC4A5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D396DE3224E4B40BEC62F5BF99B0973" ma:contentTypeVersion="13" ma:contentTypeDescription="Create a new document." ma:contentTypeScope="" ma:versionID="bfce0017c417e59fd93a118e05893190">
  <xsd:schema xmlns:xsd="http://www.w3.org/2001/XMLSchema" xmlns:xs="http://www.w3.org/2001/XMLSchema" xmlns:p="http://schemas.microsoft.com/office/2006/metadata/properties" xmlns:ns3="04215ec7-cf3d-45ce-a703-58f1d5ba5b07" xmlns:ns4="21f85e6a-41d5-49f0-a0ee-e7b7641572d7" targetNamespace="http://schemas.microsoft.com/office/2006/metadata/properties" ma:root="true" ma:fieldsID="cb96e28355a72869b0b2576369bc43c6" ns3:_="" ns4:_="">
    <xsd:import namespace="04215ec7-cf3d-45ce-a703-58f1d5ba5b07"/>
    <xsd:import namespace="21f85e6a-41d5-49f0-a0ee-e7b7641572d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215ec7-cf3d-45ce-a703-58f1d5ba5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f85e6a-41d5-49f0-a0ee-e7b7641572d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E17F69-123A-4964-8958-B08B2D5FA6A5}">
  <ds:schemaRefs>
    <ds:schemaRef ds:uri="http://schemas.microsoft.com/sharepoint/v3/contenttype/forms"/>
  </ds:schemaRefs>
</ds:datastoreItem>
</file>

<file path=customXml/itemProps2.xml><?xml version="1.0" encoding="utf-8"?>
<ds:datastoreItem xmlns:ds="http://schemas.openxmlformats.org/officeDocument/2006/customXml" ds:itemID="{E640F6F9-6758-4C66-967F-9D63D7513053}">
  <ds:schemaRefs>
    <ds:schemaRef ds:uri="04215ec7-cf3d-45ce-a703-58f1d5ba5b07"/>
    <ds:schemaRef ds:uri="http://schemas.microsoft.com/office/infopath/2007/PartnerControls"/>
    <ds:schemaRef ds:uri="http://purl.org/dc/dcmitype/"/>
    <ds:schemaRef ds:uri="http://purl.org/dc/terms/"/>
    <ds:schemaRef ds:uri="http://purl.org/dc/elements/1.1/"/>
    <ds:schemaRef ds:uri="http://schemas.microsoft.com/office/2006/documentManagement/types"/>
    <ds:schemaRef ds:uri="21f85e6a-41d5-49f0-a0ee-e7b7641572d7"/>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F9D7E09-C9D0-4239-98E1-C3EFE2002873}">
  <ds:schemaRefs>
    <ds:schemaRef ds:uri="04215ec7-cf3d-45ce-a703-58f1d5ba5b07"/>
    <ds:schemaRef ds:uri="21f85e6a-41d5-49f0-a0ee-e7b7641572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58154</TotalTime>
  <Words>1962</Words>
  <Application>Microsoft Office PowerPoint</Application>
  <PresentationFormat>Widescreen</PresentationFormat>
  <Paragraphs>338</Paragraphs>
  <Slides>48</Slides>
  <Notes>48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Helvetica Neue Light</vt:lpstr>
      <vt:lpstr>Arial</vt:lpstr>
      <vt:lpstr>Calibri</vt:lpstr>
      <vt:lpstr>Calibri Light</vt:lpstr>
      <vt:lpstr>template</vt:lpstr>
      <vt:lpstr>Deepspeed - Alphafold3 –Minjia Zhang, Hoa La–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Yuxiong He</dc:creator>
  <cp:lastModifiedBy>Minjia Zhang</cp:lastModifiedBy>
  <cp:revision>57</cp:revision>
  <dcterms:created xsi:type="dcterms:W3CDTF">2021-07-26T18:11:40Z</dcterms:created>
  <dcterms:modified xsi:type="dcterms:W3CDTF">2026-04-14T06:06:15Z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0x0101001D396DE3224E4B40BEC62F5BF99B0973</vt:lpwstr>
  </property>
</Properties>
</file>